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Microsoft YaHei"/>
              </a:rPr>
              <a:t>这一页用于开场。建议先用一句话定义主题：Harness Engineering 不是让模型更会写代码，而是让模型在真实工程系统里可靠工作。</a:t>
            </a:r>
          </a:p>
          <a:p>
            <a:r>
              <a:rPr sz="1200">
                <a:latin typeface="Microsoft YaHei"/>
              </a:rPr>
              <a:t>可以说明这份材料不是单篇文章复述，而是把文档中的概念、案例、数据和行动建议重新整理成适合管理层和研发团队共同理解的汇报结构。</a:t>
            </a:r>
          </a:p>
          <a:p>
            <a:r>
              <a:rPr sz="1200">
                <a:latin typeface="Microsoft YaHei"/>
              </a:rPr>
              <a:t>如果听众里有非研发同事，可以强调它与传统软件工程的关系：本质仍然是约束、验证、可观测和持续改进，只是对象从人类开发者扩展到了 AI Agent。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Microsoft YaHei"/>
              </a:rPr>
              <a:t>这一页建议用高层语言做框架定调，不要立刻深入技术细节。</a:t>
            </a:r>
          </a:p>
          <a:p>
            <a:r>
              <a:rPr sz="1200">
                <a:latin typeface="Microsoft YaHei"/>
              </a:rPr>
              <a:t>可以先讲第一条：为什么一些团队用了更强模型却仍然产出不稳定，因为缺少围绕 Agent 的工程底座。</a:t>
            </a:r>
          </a:p>
          <a:p>
            <a:r>
              <a:rPr sz="1200">
                <a:latin typeface="Microsoft YaHei"/>
              </a:rPr>
              <a:t>第二条强调这不是概念炒作，而是多个领先团队已经反复验证过的实践路径。</a:t>
            </a:r>
          </a:p>
          <a:p>
            <a:r>
              <a:rPr sz="1200">
                <a:latin typeface="Microsoft YaHei"/>
              </a:rPr>
              <a:t>第三条用于为后面的人才、流程和组织影响做铺垫，让听众意识到这不仅是工具升级，而是工作方式升级。</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Microsoft YaHei"/>
              </a:rPr>
              <a:t>这一页的作用是让听众建立地图感，知道后面不是散点信息，而是一个完整叙事。</a:t>
            </a:r>
          </a:p>
          <a:p>
            <a:r>
              <a:rPr sz="1200">
                <a:latin typeface="Microsoft YaHei"/>
              </a:rPr>
              <a:t>可以提示听众：前半部分回答“为什么要做”，中间回答“怎么做”，最后回答“先从哪里做起”。</a:t>
            </a:r>
          </a:p>
          <a:p>
            <a:r>
              <a:rPr sz="1200">
                <a:latin typeface="Microsoft YaHei"/>
              </a:rPr>
              <a:t>如果汇报时间比较短，可以说明重点会放在四大支柱、典型案例和 30-60-90 天落地建议上。</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Microsoft YaHei"/>
              </a:rPr>
              <a:t>这一页需要把术语边界讲清楚。建议明确说明：Harness Engineering 并不是替代 Prompt 或 Context，而是把它们纳入一个更大的工程框架。</a:t>
            </a:r>
          </a:p>
          <a:p>
            <a:r>
              <a:rPr sz="1200">
                <a:latin typeface="Microsoft YaHei"/>
              </a:rPr>
              <a:t>可以引用文档中的 CPU 与操作系统比喻。CPU 再强，没有操作系统也无法稳定承载复杂任务。同样，模型再强，没有系统约束也会偏航。</a:t>
            </a:r>
          </a:p>
          <a:p>
            <a:r>
              <a:rPr sz="1200">
                <a:latin typeface="Microsoft YaHei"/>
              </a:rPr>
              <a:t>如果听众对概念比较陌生，可以加一句：它本质上是在回答一个问题，怎样把一个会做事的 Agent 变成一个可管理、可审计、可规模化的工程角色。</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Microsoft YaHei"/>
              </a:rPr>
              <a:t>这一页尽量用数据说话。重点不是讲每个实验细节，而是让听众看到趋势：在不少场景下，Harness 的提升幅度不亚于换模型。</a:t>
            </a:r>
          </a:p>
          <a:p>
            <a:r>
              <a:rPr sz="1200">
                <a:latin typeface="Microsoft YaHei"/>
              </a:rPr>
              <a:t>可以指出一个直觉反转：大家容易以为上下文越多越好，但文档里明确提到 40% 左右往往是较优区间，超过以后会进入质量下降区。</a:t>
            </a:r>
          </a:p>
          <a:p>
            <a:r>
              <a:rPr sz="1200">
                <a:latin typeface="Microsoft YaHei"/>
              </a:rPr>
              <a:t>最后落到业务语言：决定产出的不是某一个模型版本，而是团队能否把模型能力放进一套能持续复用的工程框架。</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Microsoft YaHei"/>
              </a:rPr>
              <a:t>这页建议逐一解释，但不要讲得太散。可以用一句总括：这四类问题本质上都不是模型智力问题，而是系统设计问题。</a:t>
            </a:r>
          </a:p>
          <a:p>
            <a:r>
              <a:rPr sz="1200">
                <a:latin typeface="Microsoft YaHei"/>
              </a:rPr>
              <a:t>One-shot 和过早宣布完成，说明任务边界和执行节奏没有被控制好。</a:t>
            </a:r>
          </a:p>
          <a:p>
            <a:r>
              <a:rPr sz="1200">
                <a:latin typeface="Microsoft YaHei"/>
              </a:rPr>
              <a:t>写完即算通过，说明验证体系薄弱。</a:t>
            </a:r>
          </a:p>
          <a:p>
            <a:r>
              <a:rPr sz="1200">
                <a:latin typeface="Microsoft YaHei"/>
              </a:rPr>
              <a:t>环境冷启动，说明项目知识没有外化到仓库和工作流里。这正好引出后面的持久化记忆与结构化执行。</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Microsoft YaHei"/>
              </a:rPr>
              <a:t>这页建议作为全局框架页来讲，后面几页都可以理解为它的展开。</a:t>
            </a:r>
          </a:p>
          <a:p>
            <a:r>
              <a:rPr sz="1200">
                <a:latin typeface="Microsoft YaHei"/>
              </a:rPr>
              <a:t>可以提醒听众：四个支柱不是并列孤立的。上下文架构与专业化决定 Agent 看什么、做什么；持久化记忆与结构化执行决定 Agent 如何跨时间稳定工作。</a:t>
            </a:r>
          </a:p>
          <a:p>
            <a:r>
              <a:rPr sz="1200">
                <a:latin typeface="Microsoft YaHei"/>
              </a:rPr>
              <a:t>如果只能记住一个框架，请记住这四个词：Context、Specialization、Memory、Execution。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Microsoft YaHei"/>
              </a:rPr>
              <a:t>这一页适合用组织设计语言来解释。不要只讲“分层”和“分工”，要讲背后的目的：减少上下文污染和权限失控。</a:t>
            </a:r>
          </a:p>
          <a:p>
            <a:r>
              <a:rPr sz="1200">
                <a:latin typeface="Microsoft YaHei"/>
              </a:rPr>
              <a:t>可以强调专业化并不只是把一个大任务拆给多个人，而是让每个 Agent 只带着完成自己任务所需的最小上下文进入工作。</a:t>
            </a:r>
          </a:p>
          <a:p>
            <a:r>
              <a:rPr sz="1200">
                <a:latin typeface="Microsoft YaHei"/>
              </a:rPr>
              <a:t>如果听众关心是否一定要多 Agent，可以先埋个伏笔：不一定，但一旦任务复杂度上升，专业化会越来越有价值。</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Microsoft YaHei"/>
              </a:rPr>
              <a:t>这一页可以明确说明为什么长时运行 Agent 难做：因为模型的单次会话天然是不连续的。</a:t>
            </a:r>
          </a:p>
          <a:p>
            <a:r>
              <a:rPr sz="1200">
                <a:latin typeface="Microsoft YaHei"/>
              </a:rPr>
              <a:t>Anthropic 的做法非常有代表性，把初始化和增量编码拆开，并要求每轮都有结构化落盘动作。</a:t>
            </a:r>
          </a:p>
          <a:p>
            <a:r>
              <a:rPr sz="1200">
                <a:latin typeface="Microsoft YaHei"/>
              </a:rPr>
              <a:t>这里要特别强调结构化执行的重要性。很多团队的问题不是模型不会写，而是没有把规划与执行拆开，导致错误规模化扩散。</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Microsoft YaHei"/>
              </a:rPr>
              <a:t>这页适合转入落地视角。建议强调：成熟 Harness 不是只靠一份提示词，而是一组协同工作的工程组件。</a:t>
            </a:r>
          </a:p>
          <a:p>
            <a:r>
              <a:rPr sz="1200">
                <a:latin typeface="Microsoft YaHei"/>
              </a:rPr>
              <a:t>如果听众担心投入过大，可以明确说不需要一步到位。P0 组件先建好，就已经能显著提升稳定性。</a:t>
            </a:r>
          </a:p>
          <a:p>
            <a:r>
              <a:rPr sz="1200">
                <a:latin typeface="Microsoft YaHei"/>
              </a:rPr>
              <a:t>P1 和 P2 的价值在于让 Agent 从“能完成任务”进化到“能持续并行、规模化工作”。</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Microsoft YaHei"/>
              </a:rPr>
              <a:t>这一页可以作为整个汇报的核心案例页。建议先报数字，建立冲击感，再讲背后的方法论。</a:t>
            </a:r>
          </a:p>
          <a:p>
            <a:r>
              <a:rPr sz="1200">
                <a:latin typeface="Microsoft YaHei"/>
              </a:rPr>
              <a:t>尤其要强调“0 行手写代码”并不代表不需要工程师，恰恰相反，工程师把大量精力投入到了环境、约束和验证系统的设计上。</a:t>
            </a:r>
          </a:p>
          <a:p>
            <a:r>
              <a:rPr sz="1200">
                <a:latin typeface="Microsoft YaHei"/>
              </a:rPr>
              <a:t>OpenAI 的一个重要贡献是证明：如果约束不能机械执行，Agent 最终一定会偏离。这对所有想规模化使用 Agent 的团队都非常关键。</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Microsoft YaHei"/>
              </a:rPr>
              <a:t>这一页的讲法可以是：OpenAI 代表的是深度产品开发，Anthropic 代表长时运行与专业化控制，Stripe 代表组织级并行交付，Hashimoto 则代表失败经验沉淀与轻量自治。</a:t>
            </a:r>
          </a:p>
          <a:p>
            <a:r>
              <a:rPr sz="1200">
                <a:latin typeface="Microsoft YaHei"/>
              </a:rPr>
              <a:t>虽然风格不同，但背后的共识几乎一致，包括分层上下文、机械化约束、持久化记忆和验证闭环。</a:t>
            </a:r>
          </a:p>
          <a:p>
            <a:r>
              <a:rPr sz="1200">
                <a:latin typeface="Microsoft YaHei"/>
              </a:rPr>
              <a:t>也可以顺带指出：这些案例说明并不存在一个唯一的 Harness 形态，但存在一组高度稳定的设计原则。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Microsoft YaHei"/>
              </a:rPr>
              <a:t>这一页建议把技术问题翻译成组织语言。要让管理者意识到：如果希望 Agent 真正创造价值，就需要投入在角色定义、流程治理和质量机制上。</a:t>
            </a:r>
          </a:p>
          <a:p>
            <a:r>
              <a:rPr sz="1200">
                <a:latin typeface="Microsoft YaHei"/>
              </a:rPr>
              <a:t>成熟度模型是一个很好的沟通工具。它能帮助团队避免过早追求 L4 的无人值守自治，而忽略 L1 和 L2 的基础底座。</a:t>
            </a:r>
          </a:p>
          <a:p>
            <a:r>
              <a:rPr sz="1200">
                <a:latin typeface="Microsoft YaHei"/>
              </a:rPr>
              <a:t>建议明确说：大多数团队的最佳路线不是先上多 Agent，而是先把 AGENTS 文档、Linter、CI、进度文件和端到端验证建起来。</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Microsoft YaHei"/>
              </a:rPr>
              <a:t>这一页建议作为最务实的行动页来讲。听众通常会问：如果我们明天要做，先做什么。</a:t>
            </a:r>
          </a:p>
          <a:p>
            <a:r>
              <a:rPr sz="1200">
                <a:latin typeface="Microsoft YaHei"/>
              </a:rPr>
              <a:t>30 天阶段主要是建立最小可用底座，让 Agent 不再完全裸奔。</a:t>
            </a:r>
          </a:p>
          <a:p>
            <a:r>
              <a:rPr sz="1200">
                <a:latin typeface="Microsoft YaHei"/>
              </a:rPr>
              <a:t>60 天阶段的重点是让工作流具备连续性和层次感。</a:t>
            </a:r>
          </a:p>
          <a:p>
            <a:r>
              <a:rPr sz="1200">
                <a:latin typeface="Microsoft YaHei"/>
              </a:rPr>
              <a:t>90 天阶段才适合开始做更高级的可观测、专业化和自治机制。这样路径更稳，也更容易获得组织支持。</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Microsoft YaHei"/>
              </a:rPr>
              <a:t>这页建议作为判断收束页来讲。先告诉听众，这个领域并不是一片混沌，已经有一些非常明确的共识。</a:t>
            </a:r>
          </a:p>
          <a:p>
            <a:r>
              <a:rPr sz="1200">
                <a:latin typeface="Microsoft YaHei"/>
              </a:rPr>
              <a:t>然后再说分歧：分歧大多不是因为原则相反，而是因为场景、规模和成熟度不同。</a:t>
            </a:r>
          </a:p>
          <a:p>
            <a:r>
              <a:rPr sz="1200">
                <a:latin typeface="Microsoft YaHei"/>
              </a:rPr>
              <a:t>最后强调空白区。特别是遗留项目改造、功能验证体系和长期可维护性，这三点非常可能成为未来一年最值得投入的研究与建设方向。</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Microsoft YaHei"/>
              </a:rPr>
              <a:t>结尾建议回到最核心的一句话：瓶颈不在智能，而在基础设施。</a:t>
            </a:r>
          </a:p>
          <a:p>
            <a:r>
              <a:rPr sz="1200">
                <a:latin typeface="Microsoft YaHei"/>
              </a:rPr>
              <a:t>可以补一句延伸：AI 编码的兴起并没有降低软件工程的门槛，反而抬高了对系统设计能力、质量治理能力和组织协同能力的要求。</a:t>
            </a:r>
          </a:p>
          <a:p>
            <a:r>
              <a:rPr sz="1200">
                <a:latin typeface="Microsoft YaHei"/>
              </a:rPr>
              <a:t>如果需要收尾到行动，可以直接引用上一页路线图，说明下一步应先做 P0 和 L1-L2，而不是盲目追求全自动化。</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92A46"/>
        </a:solidFill>
        <a:effectLst/>
      </p:bgPr>
    </p:bg>
    <p:spTree>
      <p:nvGrpSpPr>
        <p:cNvPr id="1" name=""/>
        <p:cNvGrpSpPr/>
        <p:nvPr/>
      </p:nvGrpSpPr>
      <p:grpSpPr/>
      <p:sp>
        <p:nvSpPr>
          <p:cNvPr id="2" name="Rounded Rectangle 1"/>
          <p:cNvSpPr/>
          <p:nvPr/>
        </p:nvSpPr>
        <p:spPr>
          <a:xfrm>
            <a:off x="4251960" y="822960"/>
            <a:ext cx="3657600" cy="384048"/>
          </a:xfrm>
          <a:prstGeom prst="roundRect">
            <a:avLst/>
          </a:prstGeom>
          <a:solidFill>
            <a:srgbClr val="BC91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43400" y="905256"/>
            <a:ext cx="3474720" cy="164592"/>
          </a:xfrm>
          <a:prstGeom prst="rect">
            <a:avLst/>
          </a:prstGeom>
          <a:noFill/>
        </p:spPr>
        <p:txBody>
          <a:bodyPr wrap="square" anchor="t">
            <a:spAutoFit/>
          </a:bodyPr>
          <a:lstStyle/>
          <a:p>
            <a:pPr algn="ctr"/>
            <a:r>
              <a:rPr sz="1100" b="1">
                <a:solidFill>
                  <a:srgbClr val="192A46"/>
                </a:solidFill>
                <a:latin typeface="Aptos"/>
              </a:rPr>
              <a:t>AI AGENT ENGINEERING REVIEW</a:t>
            </a:r>
          </a:p>
        </p:txBody>
      </p:sp>
      <p:sp>
        <p:nvSpPr>
          <p:cNvPr id="4" name="TextBox 3"/>
          <p:cNvSpPr txBox="1"/>
          <p:nvPr/>
        </p:nvSpPr>
        <p:spPr>
          <a:xfrm>
            <a:off x="1097280" y="1554480"/>
            <a:ext cx="9966960" cy="731520"/>
          </a:xfrm>
          <a:prstGeom prst="rect">
            <a:avLst/>
          </a:prstGeom>
          <a:noFill/>
        </p:spPr>
        <p:txBody>
          <a:bodyPr wrap="square" anchor="t">
            <a:spAutoFit/>
          </a:bodyPr>
          <a:lstStyle/>
          <a:p>
            <a:pPr algn="ctr"/>
            <a:r>
              <a:rPr sz="2800" b="1">
                <a:solidFill>
                  <a:srgbClr val="FFFFFF"/>
                </a:solidFill>
                <a:latin typeface="Aptos"/>
              </a:rPr>
              <a:t>Harness Engineering</a:t>
            </a:r>
          </a:p>
        </p:txBody>
      </p:sp>
      <p:sp>
        <p:nvSpPr>
          <p:cNvPr id="5" name="TextBox 4"/>
          <p:cNvSpPr txBox="1"/>
          <p:nvPr/>
        </p:nvSpPr>
        <p:spPr>
          <a:xfrm>
            <a:off x="914400" y="2286000"/>
            <a:ext cx="10332720" cy="731520"/>
          </a:xfrm>
          <a:prstGeom prst="rect">
            <a:avLst/>
          </a:prstGeom>
          <a:noFill/>
        </p:spPr>
        <p:txBody>
          <a:bodyPr wrap="square" anchor="t">
            <a:spAutoFit/>
          </a:bodyPr>
          <a:lstStyle/>
          <a:p>
            <a:pPr algn="ctr"/>
            <a:r>
              <a:rPr sz="2600" b="1">
                <a:solidFill>
                  <a:srgbClr val="FFFFFF"/>
                </a:solidFill>
                <a:latin typeface="Microsoft YaHei"/>
              </a:rPr>
              <a:t>AI Agent 时代的软件工程底座设计</a:t>
            </a:r>
          </a:p>
        </p:txBody>
      </p:sp>
      <p:sp>
        <p:nvSpPr>
          <p:cNvPr id="6" name="TextBox 5"/>
          <p:cNvSpPr txBox="1"/>
          <p:nvPr/>
        </p:nvSpPr>
        <p:spPr>
          <a:xfrm>
            <a:off x="1371600" y="3246120"/>
            <a:ext cx="9418320" cy="1005840"/>
          </a:xfrm>
          <a:prstGeom prst="rect">
            <a:avLst/>
          </a:prstGeom>
          <a:noFill/>
        </p:spPr>
        <p:txBody>
          <a:bodyPr wrap="square" anchor="t">
            <a:spAutoFit/>
          </a:bodyPr>
          <a:lstStyle/>
          <a:p>
            <a:pPr algn="ctr"/>
            <a:r>
              <a:rPr sz="1800" b="0">
                <a:solidFill>
                  <a:srgbClr val="DCE4ED"/>
                </a:solidFill>
                <a:latin typeface="Microsoft YaHei"/>
              </a:rPr>
              <a:t>基于《Harness Engineering.md》整理
面向正式汇报、团队培训与工程实践落地</a:t>
            </a:r>
          </a:p>
        </p:txBody>
      </p:sp>
      <p:sp>
        <p:nvSpPr>
          <p:cNvPr id="7" name="TextBox 6"/>
          <p:cNvSpPr txBox="1"/>
          <p:nvPr/>
        </p:nvSpPr>
        <p:spPr>
          <a:xfrm>
            <a:off x="3154680" y="5166360"/>
            <a:ext cx="5852160" cy="365760"/>
          </a:xfrm>
          <a:prstGeom prst="rect">
            <a:avLst/>
          </a:prstGeom>
          <a:noFill/>
        </p:spPr>
        <p:txBody>
          <a:bodyPr wrap="square" anchor="t">
            <a:spAutoFit/>
          </a:bodyPr>
          <a:lstStyle/>
          <a:p>
            <a:pPr algn="ctr"/>
            <a:r>
              <a:rPr sz="1600" b="0">
                <a:solidFill>
                  <a:srgbClr val="DCE4ED"/>
                </a:solidFill>
                <a:latin typeface="Microsoft YaHei"/>
              </a:rPr>
              <a:t>核心命题：瓶颈不再是模型本身，而是让模型稳定交付的系统</a:t>
            </a:r>
          </a:p>
        </p:txBody>
      </p:sp>
      <p:sp>
        <p:nvSpPr>
          <p:cNvPr id="8" name="TextBox 7"/>
          <p:cNvSpPr txBox="1"/>
          <p:nvPr/>
        </p:nvSpPr>
        <p:spPr>
          <a:xfrm>
            <a:off x="411480" y="6400800"/>
            <a:ext cx="11155680" cy="182880"/>
          </a:xfrm>
          <a:prstGeom prst="rect">
            <a:avLst/>
          </a:prstGeom>
          <a:noFill/>
        </p:spPr>
        <p:txBody>
          <a:bodyPr wrap="none">
            <a:spAutoFit/>
          </a:bodyPr>
          <a:lstStyle/>
          <a:p>
            <a:pPr algn="r"/>
            <a:r>
              <a:rPr sz="900">
                <a:solidFill>
                  <a:srgbClr val="6C788A"/>
                </a:solidFill>
                <a:latin typeface="Aptos"/>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191695" cy="310896"/>
          </a:xfrm>
          <a:prstGeom prst="rect">
            <a:avLst/>
          </a:prstGeom>
          <a:solidFill>
            <a:srgbClr val="19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75488"/>
            <a:ext cx="10698480" cy="228600"/>
          </a:xfrm>
          <a:prstGeom prst="rect">
            <a:avLst/>
          </a:prstGeom>
          <a:noFill/>
        </p:spPr>
        <p:txBody>
          <a:bodyPr wrap="square" anchor="t">
            <a:spAutoFit/>
          </a:bodyPr>
          <a:lstStyle/>
          <a:p>
            <a:pPr algn="ctr"/>
            <a:r>
              <a:rPr sz="1100" b="1">
                <a:solidFill>
                  <a:srgbClr val="197B8A"/>
                </a:solidFill>
                <a:latin typeface="Aptos"/>
              </a:rPr>
              <a:t>EXECUTIVE SUMMARY</a:t>
            </a:r>
          </a:p>
        </p:txBody>
      </p:sp>
      <p:sp>
        <p:nvSpPr>
          <p:cNvPr id="4" name="TextBox 3"/>
          <p:cNvSpPr txBox="1"/>
          <p:nvPr/>
        </p:nvSpPr>
        <p:spPr>
          <a:xfrm>
            <a:off x="685800" y="749808"/>
            <a:ext cx="10835640" cy="502920"/>
          </a:xfrm>
          <a:prstGeom prst="rect">
            <a:avLst/>
          </a:prstGeom>
          <a:noFill/>
        </p:spPr>
        <p:txBody>
          <a:bodyPr wrap="square" anchor="t">
            <a:spAutoFit/>
          </a:bodyPr>
          <a:lstStyle/>
          <a:p>
            <a:pPr algn="ctr"/>
            <a:r>
              <a:rPr sz="2400" b="1">
                <a:solidFill>
                  <a:srgbClr val="192A46"/>
                </a:solidFill>
                <a:latin typeface="Microsoft YaHei"/>
              </a:rPr>
              <a:t>三条结论先讲清楚</a:t>
            </a:r>
          </a:p>
        </p:txBody>
      </p:sp>
      <p:sp>
        <p:nvSpPr>
          <p:cNvPr id="5" name="TextBox 4"/>
          <p:cNvSpPr txBox="1"/>
          <p:nvPr/>
        </p:nvSpPr>
        <p:spPr>
          <a:xfrm>
            <a:off x="960120" y="1234440"/>
            <a:ext cx="10287000" cy="411480"/>
          </a:xfrm>
          <a:prstGeom prst="rect">
            <a:avLst/>
          </a:prstGeom>
          <a:noFill/>
        </p:spPr>
        <p:txBody>
          <a:bodyPr wrap="square" anchor="t">
            <a:spAutoFit/>
          </a:bodyPr>
          <a:lstStyle/>
          <a:p>
            <a:pPr algn="ctr"/>
            <a:r>
              <a:rPr sz="1400" b="0">
                <a:solidFill>
                  <a:srgbClr val="6C788A"/>
                </a:solidFill>
                <a:latin typeface="Microsoft YaHei"/>
              </a:rPr>
              <a:t>如果时间有限，只需要记住下面三点。</a:t>
            </a:r>
          </a:p>
        </p:txBody>
      </p:sp>
      <p:sp>
        <p:nvSpPr>
          <p:cNvPr id="6" name="Rounded Rectangle 5"/>
          <p:cNvSpPr/>
          <p:nvPr/>
        </p:nvSpPr>
        <p:spPr>
          <a:xfrm>
            <a:off x="713232" y="1828800"/>
            <a:ext cx="3520440" cy="3474720"/>
          </a:xfrm>
          <a:prstGeom prst="roundRect">
            <a:avLst/>
          </a:prstGeom>
          <a:solidFill>
            <a:srgbClr val="FFFFFF"/>
          </a:solidFill>
          <a:ln w="1524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7824" y="1975104"/>
            <a:ext cx="3191256" cy="54864"/>
          </a:xfrm>
          <a:prstGeom prst="rect">
            <a:avLst/>
          </a:prstGeom>
          <a:solidFill>
            <a:srgbClr val="197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2121408"/>
            <a:ext cx="3227832" cy="320040"/>
          </a:xfrm>
          <a:prstGeom prst="rect">
            <a:avLst/>
          </a:prstGeom>
          <a:noFill/>
        </p:spPr>
        <p:txBody>
          <a:bodyPr wrap="square" anchor="t">
            <a:spAutoFit/>
          </a:bodyPr>
          <a:lstStyle/>
          <a:p>
            <a:pPr algn="ctr"/>
            <a:r>
              <a:rPr sz="1700" b="1">
                <a:solidFill>
                  <a:srgbClr val="192A46"/>
                </a:solidFill>
                <a:latin typeface="Microsoft YaHei"/>
              </a:rPr>
              <a:t>结论一</a:t>
            </a:r>
          </a:p>
        </p:txBody>
      </p:sp>
      <p:sp>
        <p:nvSpPr>
          <p:cNvPr id="9" name="TextBox 8"/>
          <p:cNvSpPr txBox="1"/>
          <p:nvPr/>
        </p:nvSpPr>
        <p:spPr>
          <a:xfrm>
            <a:off x="859536" y="2542032"/>
            <a:ext cx="3227832" cy="2633472"/>
          </a:xfrm>
          <a:prstGeom prst="rect">
            <a:avLst/>
          </a:prstGeom>
          <a:noFill/>
        </p:spPr>
        <p:txBody>
          <a:bodyPr wrap="square">
            <a:spAutoFit/>
          </a:bodyPr>
          <a:lstStyle/>
          <a:p>
            <a:pPr algn="ctr">
              <a:spcAft>
                <a:spcPts val="600"/>
              </a:spcAft>
            </a:pPr>
            <a:r>
              <a:rPr sz="1500">
                <a:solidFill>
                  <a:srgbClr val="262D38"/>
                </a:solidFill>
                <a:latin typeface="Microsoft YaHei"/>
              </a:rPr>
              <a:t>模型能力提升并不会自动带来稳定交付。</a:t>
            </a:r>
          </a:p>
          <a:p>
            <a:pPr algn="ctr">
              <a:spcAft>
                <a:spcPts val="600"/>
              </a:spcAft>
            </a:pPr>
            <a:r>
              <a:rPr sz="1500">
                <a:solidFill>
                  <a:srgbClr val="262D38"/>
                </a:solidFill>
                <a:latin typeface="Microsoft YaHei"/>
              </a:rPr>
              <a:t>真正决定产出质量的是约束机制、验证闭环、上下文管理与工作流控制。</a:t>
            </a:r>
          </a:p>
        </p:txBody>
      </p:sp>
      <p:sp>
        <p:nvSpPr>
          <p:cNvPr id="10" name="Rounded Rectangle 9"/>
          <p:cNvSpPr/>
          <p:nvPr/>
        </p:nvSpPr>
        <p:spPr>
          <a:xfrm>
            <a:off x="4334256" y="1828800"/>
            <a:ext cx="3520440" cy="3474720"/>
          </a:xfrm>
          <a:prstGeom prst="roundRect">
            <a:avLst/>
          </a:prstGeom>
          <a:solidFill>
            <a:srgbClr val="FFFFFF"/>
          </a:solidFill>
          <a:ln w="1524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98848" y="1975104"/>
            <a:ext cx="3191256" cy="54864"/>
          </a:xfrm>
          <a:prstGeom prst="rect">
            <a:avLst/>
          </a:prstGeom>
          <a:solidFill>
            <a:srgbClr val="375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0560" y="2121408"/>
            <a:ext cx="3227832" cy="320040"/>
          </a:xfrm>
          <a:prstGeom prst="rect">
            <a:avLst/>
          </a:prstGeom>
          <a:noFill/>
        </p:spPr>
        <p:txBody>
          <a:bodyPr wrap="square" anchor="t">
            <a:spAutoFit/>
          </a:bodyPr>
          <a:lstStyle/>
          <a:p>
            <a:pPr algn="ctr"/>
            <a:r>
              <a:rPr sz="1700" b="1">
                <a:solidFill>
                  <a:srgbClr val="192A46"/>
                </a:solidFill>
                <a:latin typeface="Microsoft YaHei"/>
              </a:rPr>
              <a:t>结论二</a:t>
            </a:r>
          </a:p>
        </p:txBody>
      </p:sp>
      <p:sp>
        <p:nvSpPr>
          <p:cNvPr id="13" name="TextBox 12"/>
          <p:cNvSpPr txBox="1"/>
          <p:nvPr/>
        </p:nvSpPr>
        <p:spPr>
          <a:xfrm>
            <a:off x="4480560" y="2542032"/>
            <a:ext cx="3227832" cy="2633472"/>
          </a:xfrm>
          <a:prstGeom prst="rect">
            <a:avLst/>
          </a:prstGeom>
          <a:noFill/>
        </p:spPr>
        <p:txBody>
          <a:bodyPr wrap="square">
            <a:spAutoFit/>
          </a:bodyPr>
          <a:lstStyle/>
          <a:p>
            <a:pPr algn="ctr">
              <a:spcAft>
                <a:spcPts val="600"/>
              </a:spcAft>
            </a:pPr>
            <a:r>
              <a:rPr sz="1500">
                <a:solidFill>
                  <a:srgbClr val="262D38"/>
                </a:solidFill>
                <a:latin typeface="Microsoft YaHei"/>
              </a:rPr>
              <a:t>Harness Engineering 已经从零散技巧演化为系统工程实践。</a:t>
            </a:r>
          </a:p>
          <a:p>
            <a:pPr algn="ctr">
              <a:spcAft>
                <a:spcPts val="600"/>
              </a:spcAft>
            </a:pPr>
            <a:r>
              <a:rPr sz="1500">
                <a:solidFill>
                  <a:srgbClr val="262D38"/>
                </a:solidFill>
                <a:latin typeface="Microsoft YaHei"/>
              </a:rPr>
              <a:t>OpenAI、Anthropic、Stripe 等案例都在说明基础设施才是主要瓶颈。</a:t>
            </a:r>
          </a:p>
        </p:txBody>
      </p:sp>
      <p:sp>
        <p:nvSpPr>
          <p:cNvPr id="14" name="Rounded Rectangle 13"/>
          <p:cNvSpPr/>
          <p:nvPr/>
        </p:nvSpPr>
        <p:spPr>
          <a:xfrm>
            <a:off x="7955279" y="1828800"/>
            <a:ext cx="3520440" cy="3474720"/>
          </a:xfrm>
          <a:prstGeom prst="roundRect">
            <a:avLst/>
          </a:prstGeom>
          <a:solidFill>
            <a:srgbClr val="FFFFFF"/>
          </a:solidFill>
          <a:ln w="1524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19871" y="1975104"/>
            <a:ext cx="3191256" cy="54864"/>
          </a:xfrm>
          <a:prstGeom prst="rect">
            <a:avLst/>
          </a:prstGeom>
          <a:solidFill>
            <a:srgbClr val="BC91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01583" y="2121408"/>
            <a:ext cx="3227832" cy="320040"/>
          </a:xfrm>
          <a:prstGeom prst="rect">
            <a:avLst/>
          </a:prstGeom>
          <a:noFill/>
        </p:spPr>
        <p:txBody>
          <a:bodyPr wrap="square" anchor="t">
            <a:spAutoFit/>
          </a:bodyPr>
          <a:lstStyle/>
          <a:p>
            <a:pPr algn="ctr"/>
            <a:r>
              <a:rPr sz="1700" b="1">
                <a:solidFill>
                  <a:srgbClr val="192A46"/>
                </a:solidFill>
                <a:latin typeface="Microsoft YaHei"/>
              </a:rPr>
              <a:t>结论三</a:t>
            </a:r>
          </a:p>
        </p:txBody>
      </p:sp>
      <p:sp>
        <p:nvSpPr>
          <p:cNvPr id="17" name="TextBox 16"/>
          <p:cNvSpPr txBox="1"/>
          <p:nvPr/>
        </p:nvSpPr>
        <p:spPr>
          <a:xfrm>
            <a:off x="8101583" y="2542032"/>
            <a:ext cx="3227832" cy="2633472"/>
          </a:xfrm>
          <a:prstGeom prst="rect">
            <a:avLst/>
          </a:prstGeom>
          <a:noFill/>
        </p:spPr>
        <p:txBody>
          <a:bodyPr wrap="square">
            <a:spAutoFit/>
          </a:bodyPr>
          <a:lstStyle/>
          <a:p>
            <a:pPr algn="ctr">
              <a:spcAft>
                <a:spcPts val="600"/>
              </a:spcAft>
            </a:pPr>
            <a:r>
              <a:rPr sz="1500">
                <a:solidFill>
                  <a:srgbClr val="262D38"/>
                </a:solidFill>
                <a:latin typeface="Microsoft YaHei"/>
              </a:rPr>
              <a:t>工程师角色正在从“直接写代码”转向“设计环境、管理 Agent、审视系统”。</a:t>
            </a:r>
          </a:p>
          <a:p>
            <a:pPr algn="ctr">
              <a:spcAft>
                <a:spcPts val="600"/>
              </a:spcAft>
            </a:pPr>
            <a:r>
              <a:rPr sz="1500">
                <a:solidFill>
                  <a:srgbClr val="262D38"/>
                </a:solidFill>
                <a:latin typeface="Microsoft YaHei"/>
              </a:rPr>
              <a:t>未来的核心竞争力是把 Agent 纳入工程体系，而不是把它当作更快的编辑器。</a:t>
            </a:r>
          </a:p>
        </p:txBody>
      </p:sp>
      <p:sp>
        <p:nvSpPr>
          <p:cNvPr id="18" name="TextBox 17"/>
          <p:cNvSpPr txBox="1"/>
          <p:nvPr/>
        </p:nvSpPr>
        <p:spPr>
          <a:xfrm>
            <a:off x="411480" y="6400800"/>
            <a:ext cx="11155680" cy="182880"/>
          </a:xfrm>
          <a:prstGeom prst="rect">
            <a:avLst/>
          </a:prstGeom>
          <a:noFill/>
        </p:spPr>
        <p:txBody>
          <a:bodyPr wrap="none">
            <a:spAutoFit/>
          </a:bodyPr>
          <a:lstStyle/>
          <a:p>
            <a:pPr algn="r"/>
            <a:r>
              <a:rPr sz="900">
                <a:solidFill>
                  <a:srgbClr val="6C788A"/>
                </a:solidFill>
                <a:latin typeface="Aptos"/>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191695" cy="310896"/>
          </a:xfrm>
          <a:prstGeom prst="rect">
            <a:avLst/>
          </a:prstGeom>
          <a:solidFill>
            <a:srgbClr val="19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75488"/>
            <a:ext cx="10698480" cy="228600"/>
          </a:xfrm>
          <a:prstGeom prst="rect">
            <a:avLst/>
          </a:prstGeom>
          <a:noFill/>
        </p:spPr>
        <p:txBody>
          <a:bodyPr wrap="square" anchor="t">
            <a:spAutoFit/>
          </a:bodyPr>
          <a:lstStyle/>
          <a:p>
            <a:pPr algn="ctr"/>
            <a:r>
              <a:rPr sz="1100" b="1">
                <a:solidFill>
                  <a:srgbClr val="197B8A"/>
                </a:solidFill>
                <a:latin typeface="Aptos"/>
              </a:rPr>
              <a:t>AGENDA</a:t>
            </a:r>
          </a:p>
        </p:txBody>
      </p:sp>
      <p:sp>
        <p:nvSpPr>
          <p:cNvPr id="4" name="TextBox 3"/>
          <p:cNvSpPr txBox="1"/>
          <p:nvPr/>
        </p:nvSpPr>
        <p:spPr>
          <a:xfrm>
            <a:off x="685800" y="749808"/>
            <a:ext cx="10835640" cy="502920"/>
          </a:xfrm>
          <a:prstGeom prst="rect">
            <a:avLst/>
          </a:prstGeom>
          <a:noFill/>
        </p:spPr>
        <p:txBody>
          <a:bodyPr wrap="square" anchor="t">
            <a:spAutoFit/>
          </a:bodyPr>
          <a:lstStyle/>
          <a:p>
            <a:pPr algn="ctr"/>
            <a:r>
              <a:rPr sz="2400" b="1">
                <a:solidFill>
                  <a:srgbClr val="192A46"/>
                </a:solidFill>
                <a:latin typeface="Microsoft YaHei"/>
              </a:rPr>
              <a:t>汇报结构</a:t>
            </a:r>
          </a:p>
        </p:txBody>
      </p:sp>
      <p:sp>
        <p:nvSpPr>
          <p:cNvPr id="5" name="TextBox 4"/>
          <p:cNvSpPr txBox="1"/>
          <p:nvPr/>
        </p:nvSpPr>
        <p:spPr>
          <a:xfrm>
            <a:off x="960120" y="1234440"/>
            <a:ext cx="10287000" cy="411480"/>
          </a:xfrm>
          <a:prstGeom prst="rect">
            <a:avLst/>
          </a:prstGeom>
          <a:noFill/>
        </p:spPr>
        <p:txBody>
          <a:bodyPr wrap="square" anchor="t">
            <a:spAutoFit/>
          </a:bodyPr>
          <a:lstStyle/>
          <a:p>
            <a:pPr algn="ctr"/>
            <a:r>
              <a:rPr sz="1400" b="0">
                <a:solidFill>
                  <a:srgbClr val="6C788A"/>
                </a:solidFill>
                <a:latin typeface="Microsoft YaHei"/>
              </a:rPr>
              <a:t>从概念、案例到落地路径，分为六个模块。</a:t>
            </a:r>
          </a:p>
        </p:txBody>
      </p:sp>
      <p:sp>
        <p:nvSpPr>
          <p:cNvPr id="6" name="Rounded Rectangle 5"/>
          <p:cNvSpPr/>
          <p:nvPr/>
        </p:nvSpPr>
        <p:spPr>
          <a:xfrm>
            <a:off x="1325880" y="1783080"/>
            <a:ext cx="9555480" cy="4160520"/>
          </a:xfrm>
          <a:prstGeom prst="roundRect">
            <a:avLst/>
          </a:prstGeom>
          <a:solidFill>
            <a:srgbClr val="FFFFFF"/>
          </a:solidFill>
          <a:ln w="1524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490472" y="1929384"/>
            <a:ext cx="9226296" cy="54864"/>
          </a:xfrm>
          <a:prstGeom prst="rect">
            <a:avLst/>
          </a:prstGeom>
          <a:solidFill>
            <a:srgbClr val="197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72184" y="2075688"/>
            <a:ext cx="9262872" cy="320040"/>
          </a:xfrm>
          <a:prstGeom prst="rect">
            <a:avLst/>
          </a:prstGeom>
          <a:noFill/>
        </p:spPr>
        <p:txBody>
          <a:bodyPr wrap="square" anchor="t">
            <a:spAutoFit/>
          </a:bodyPr>
          <a:lstStyle/>
          <a:p>
            <a:pPr algn="ctr"/>
            <a:r>
              <a:rPr sz="1700" b="1">
                <a:solidFill>
                  <a:srgbClr val="192A46"/>
                </a:solidFill>
                <a:latin typeface="Microsoft YaHei"/>
              </a:rPr>
              <a:t>本次讲解目录</a:t>
            </a:r>
          </a:p>
        </p:txBody>
      </p:sp>
      <p:sp>
        <p:nvSpPr>
          <p:cNvPr id="9" name="TextBox 8"/>
          <p:cNvSpPr txBox="1"/>
          <p:nvPr/>
        </p:nvSpPr>
        <p:spPr>
          <a:xfrm>
            <a:off x="1472184" y="2496312"/>
            <a:ext cx="9262872" cy="3319272"/>
          </a:xfrm>
          <a:prstGeom prst="rect">
            <a:avLst/>
          </a:prstGeom>
          <a:noFill/>
        </p:spPr>
        <p:txBody>
          <a:bodyPr wrap="square">
            <a:spAutoFit/>
          </a:bodyPr>
          <a:lstStyle/>
          <a:p>
            <a:pPr algn="ctr">
              <a:spcAft>
                <a:spcPts val="600"/>
              </a:spcAft>
            </a:pPr>
            <a:r>
              <a:rPr sz="1600">
                <a:solidFill>
                  <a:srgbClr val="262D38"/>
                </a:solidFill>
                <a:latin typeface="Microsoft YaHei"/>
              </a:rPr>
              <a:t>01 定义与背景：Harness Engineering 是什么，为什么在 2026 年升温</a:t>
            </a:r>
          </a:p>
          <a:p>
            <a:pPr algn="ctr">
              <a:spcAft>
                <a:spcPts val="600"/>
              </a:spcAft>
            </a:pPr>
            <a:r>
              <a:rPr sz="1600">
                <a:solidFill>
                  <a:srgbClr val="262D38"/>
                </a:solidFill>
                <a:latin typeface="Microsoft YaHei"/>
              </a:rPr>
              <a:t>02 价值判断：为什么模型增强后，反而更需要 Harness</a:t>
            </a:r>
          </a:p>
          <a:p>
            <a:pPr algn="ctr">
              <a:spcAft>
                <a:spcPts val="600"/>
              </a:spcAft>
            </a:pPr>
            <a:r>
              <a:rPr sz="1600">
                <a:solidFill>
                  <a:srgbClr val="262D38"/>
                </a:solidFill>
                <a:latin typeface="Microsoft YaHei"/>
              </a:rPr>
              <a:t>03 方法框架：四大支柱与核心工程组件</a:t>
            </a:r>
          </a:p>
          <a:p>
            <a:pPr algn="ctr">
              <a:spcAft>
                <a:spcPts val="600"/>
              </a:spcAft>
            </a:pPr>
            <a:r>
              <a:rPr sz="1600">
                <a:solidFill>
                  <a:srgbClr val="262D38"/>
                </a:solidFill>
                <a:latin typeface="Microsoft YaHei"/>
              </a:rPr>
              <a:t>04 业界案例：OpenAI、Anthropic、Stripe、Hashimoto 等实践</a:t>
            </a:r>
          </a:p>
          <a:p>
            <a:pPr algn="ctr">
              <a:spcAft>
                <a:spcPts val="600"/>
              </a:spcAft>
            </a:pPr>
            <a:r>
              <a:rPr sz="1600">
                <a:solidFill>
                  <a:srgbClr val="262D38"/>
                </a:solidFill>
                <a:latin typeface="Microsoft YaHei"/>
              </a:rPr>
              <a:t>05 落地方式：成熟度模型、路线图和优先级建议</a:t>
            </a:r>
          </a:p>
          <a:p>
            <a:pPr algn="ctr">
              <a:spcAft>
                <a:spcPts val="600"/>
              </a:spcAft>
            </a:pPr>
            <a:r>
              <a:rPr sz="1600">
                <a:solidFill>
                  <a:srgbClr val="262D38"/>
                </a:solidFill>
                <a:latin typeface="Microsoft YaHei"/>
              </a:rPr>
              <a:t>06 开放问题：分歧、空白区和后续值得投入的方向</a:t>
            </a:r>
          </a:p>
        </p:txBody>
      </p:sp>
      <p:sp>
        <p:nvSpPr>
          <p:cNvPr id="10" name="TextBox 9"/>
          <p:cNvSpPr txBox="1"/>
          <p:nvPr/>
        </p:nvSpPr>
        <p:spPr>
          <a:xfrm>
            <a:off x="411480" y="6400800"/>
            <a:ext cx="11155680" cy="182880"/>
          </a:xfrm>
          <a:prstGeom prst="rect">
            <a:avLst/>
          </a:prstGeom>
          <a:noFill/>
        </p:spPr>
        <p:txBody>
          <a:bodyPr wrap="none">
            <a:spAutoFit/>
          </a:bodyPr>
          <a:lstStyle/>
          <a:p>
            <a:pPr algn="r"/>
            <a:r>
              <a:rPr sz="900">
                <a:solidFill>
                  <a:srgbClr val="6C788A"/>
                </a:solidFill>
                <a:latin typeface="Aptos"/>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191695" cy="310896"/>
          </a:xfrm>
          <a:prstGeom prst="rect">
            <a:avLst/>
          </a:prstGeom>
          <a:solidFill>
            <a:srgbClr val="19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75488"/>
            <a:ext cx="10698480" cy="228600"/>
          </a:xfrm>
          <a:prstGeom prst="rect">
            <a:avLst/>
          </a:prstGeom>
          <a:noFill/>
        </p:spPr>
        <p:txBody>
          <a:bodyPr wrap="square" anchor="t">
            <a:spAutoFit/>
          </a:bodyPr>
          <a:lstStyle/>
          <a:p>
            <a:pPr algn="ctr"/>
            <a:r>
              <a:rPr sz="1100" b="1">
                <a:solidFill>
                  <a:srgbClr val="197B8A"/>
                </a:solidFill>
                <a:latin typeface="Aptos"/>
              </a:rPr>
              <a:t>DEFINITION</a:t>
            </a:r>
          </a:p>
        </p:txBody>
      </p:sp>
      <p:sp>
        <p:nvSpPr>
          <p:cNvPr id="4" name="TextBox 3"/>
          <p:cNvSpPr txBox="1"/>
          <p:nvPr/>
        </p:nvSpPr>
        <p:spPr>
          <a:xfrm>
            <a:off x="685800" y="749808"/>
            <a:ext cx="10835640" cy="502920"/>
          </a:xfrm>
          <a:prstGeom prst="rect">
            <a:avLst/>
          </a:prstGeom>
          <a:noFill/>
        </p:spPr>
        <p:txBody>
          <a:bodyPr wrap="square" anchor="t">
            <a:spAutoFit/>
          </a:bodyPr>
          <a:lstStyle/>
          <a:p>
            <a:pPr algn="ctr"/>
            <a:r>
              <a:rPr sz="2400" b="1">
                <a:solidFill>
                  <a:srgbClr val="192A46"/>
                </a:solidFill>
                <a:latin typeface="Microsoft YaHei"/>
              </a:rPr>
              <a:t>什么是 Harness Engineering</a:t>
            </a:r>
          </a:p>
        </p:txBody>
      </p:sp>
      <p:sp>
        <p:nvSpPr>
          <p:cNvPr id="5" name="TextBox 4"/>
          <p:cNvSpPr txBox="1"/>
          <p:nvPr/>
        </p:nvSpPr>
        <p:spPr>
          <a:xfrm>
            <a:off x="960120" y="1234440"/>
            <a:ext cx="10287000" cy="411480"/>
          </a:xfrm>
          <a:prstGeom prst="rect">
            <a:avLst/>
          </a:prstGeom>
          <a:noFill/>
        </p:spPr>
        <p:txBody>
          <a:bodyPr wrap="square" anchor="t">
            <a:spAutoFit/>
          </a:bodyPr>
          <a:lstStyle/>
          <a:p>
            <a:pPr algn="ctr"/>
            <a:r>
              <a:rPr sz="1400" b="0">
                <a:solidFill>
                  <a:srgbClr val="6C788A"/>
                </a:solidFill>
                <a:latin typeface="Microsoft YaHei"/>
              </a:rPr>
              <a:t>它是围绕 AI Agent 构建可靠工作系统的一套工程方法。</a:t>
            </a:r>
          </a:p>
        </p:txBody>
      </p:sp>
      <p:sp>
        <p:nvSpPr>
          <p:cNvPr id="6" name="Rounded Rectangle 5"/>
          <p:cNvSpPr/>
          <p:nvPr/>
        </p:nvSpPr>
        <p:spPr>
          <a:xfrm>
            <a:off x="658368" y="1828800"/>
            <a:ext cx="3566160" cy="3566160"/>
          </a:xfrm>
          <a:prstGeom prst="roundRect">
            <a:avLst/>
          </a:prstGeom>
          <a:solidFill>
            <a:srgbClr val="FFFFFF"/>
          </a:solidFill>
          <a:ln w="1524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1975104"/>
            <a:ext cx="3236976" cy="54864"/>
          </a:xfrm>
          <a:prstGeom prst="rect">
            <a:avLst/>
          </a:prstGeom>
          <a:solidFill>
            <a:srgbClr val="197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2121408"/>
            <a:ext cx="3273552" cy="320040"/>
          </a:xfrm>
          <a:prstGeom prst="rect">
            <a:avLst/>
          </a:prstGeom>
          <a:noFill/>
        </p:spPr>
        <p:txBody>
          <a:bodyPr wrap="square" anchor="t">
            <a:spAutoFit/>
          </a:bodyPr>
          <a:lstStyle/>
          <a:p>
            <a:pPr algn="ctr"/>
            <a:r>
              <a:rPr sz="1700" b="1">
                <a:solidFill>
                  <a:srgbClr val="192A46"/>
                </a:solidFill>
                <a:latin typeface="Microsoft YaHei"/>
              </a:rPr>
              <a:t>定义</a:t>
            </a:r>
          </a:p>
        </p:txBody>
      </p:sp>
      <p:sp>
        <p:nvSpPr>
          <p:cNvPr id="9" name="TextBox 8"/>
          <p:cNvSpPr txBox="1"/>
          <p:nvPr/>
        </p:nvSpPr>
        <p:spPr>
          <a:xfrm>
            <a:off x="804672" y="2542032"/>
            <a:ext cx="3273552" cy="2724912"/>
          </a:xfrm>
          <a:prstGeom prst="rect">
            <a:avLst/>
          </a:prstGeom>
          <a:noFill/>
        </p:spPr>
        <p:txBody>
          <a:bodyPr wrap="square">
            <a:spAutoFit/>
          </a:bodyPr>
          <a:lstStyle/>
          <a:p>
            <a:pPr algn="ctr">
              <a:spcAft>
                <a:spcPts val="600"/>
              </a:spcAft>
            </a:pPr>
            <a:r>
              <a:rPr sz="1500">
                <a:solidFill>
                  <a:srgbClr val="262D38"/>
                </a:solidFill>
                <a:latin typeface="Microsoft YaHei"/>
              </a:rPr>
              <a:t>围绕 AI Agent 设计约束、反馈回路、工作流控制与持续改进机制。</a:t>
            </a:r>
          </a:p>
          <a:p>
            <a:pPr algn="ctr">
              <a:spcAft>
                <a:spcPts val="600"/>
              </a:spcAft>
            </a:pPr>
            <a:r>
              <a:rPr sz="1500">
                <a:solidFill>
                  <a:srgbClr val="262D38"/>
                </a:solidFill>
                <a:latin typeface="Microsoft YaHei"/>
              </a:rPr>
              <a:t>目标不是单次生成成功，而是长期、稳定、可重复地交付结果。</a:t>
            </a:r>
          </a:p>
        </p:txBody>
      </p:sp>
      <p:sp>
        <p:nvSpPr>
          <p:cNvPr id="10" name="Rounded Rectangle 9"/>
          <p:cNvSpPr/>
          <p:nvPr/>
        </p:nvSpPr>
        <p:spPr>
          <a:xfrm>
            <a:off x="4315968" y="1828800"/>
            <a:ext cx="3566160" cy="3566160"/>
          </a:xfrm>
          <a:prstGeom prst="roundRect">
            <a:avLst/>
          </a:prstGeom>
          <a:solidFill>
            <a:srgbClr val="FFFFFF"/>
          </a:solidFill>
          <a:ln w="1524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80560" y="1975104"/>
            <a:ext cx="3236976" cy="54864"/>
          </a:xfrm>
          <a:prstGeom prst="rect">
            <a:avLst/>
          </a:prstGeom>
          <a:solidFill>
            <a:srgbClr val="375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62272" y="2121408"/>
            <a:ext cx="3273552" cy="320040"/>
          </a:xfrm>
          <a:prstGeom prst="rect">
            <a:avLst/>
          </a:prstGeom>
          <a:noFill/>
        </p:spPr>
        <p:txBody>
          <a:bodyPr wrap="square" anchor="t">
            <a:spAutoFit/>
          </a:bodyPr>
          <a:lstStyle/>
          <a:p>
            <a:pPr algn="ctr"/>
            <a:r>
              <a:rPr sz="1700" b="1">
                <a:solidFill>
                  <a:srgbClr val="192A46"/>
                </a:solidFill>
                <a:latin typeface="Microsoft YaHei"/>
              </a:rPr>
              <a:t>比喻</a:t>
            </a:r>
          </a:p>
        </p:txBody>
      </p:sp>
      <p:sp>
        <p:nvSpPr>
          <p:cNvPr id="13" name="TextBox 12"/>
          <p:cNvSpPr txBox="1"/>
          <p:nvPr/>
        </p:nvSpPr>
        <p:spPr>
          <a:xfrm>
            <a:off x="4462272" y="2542032"/>
            <a:ext cx="3273552" cy="2724912"/>
          </a:xfrm>
          <a:prstGeom prst="rect">
            <a:avLst/>
          </a:prstGeom>
          <a:noFill/>
        </p:spPr>
        <p:txBody>
          <a:bodyPr wrap="square">
            <a:spAutoFit/>
          </a:bodyPr>
          <a:lstStyle/>
          <a:p>
            <a:pPr algn="ctr">
              <a:spcAft>
                <a:spcPts val="600"/>
              </a:spcAft>
            </a:pPr>
            <a:r>
              <a:rPr sz="1500">
                <a:solidFill>
                  <a:srgbClr val="262D38"/>
                </a:solidFill>
                <a:latin typeface="Microsoft YaHei"/>
              </a:rPr>
              <a:t>Harness 原意是马具。</a:t>
            </a:r>
          </a:p>
          <a:p>
            <a:pPr algn="ctr">
              <a:spcAft>
                <a:spcPts val="600"/>
              </a:spcAft>
            </a:pPr>
            <a:r>
              <a:rPr sz="1500">
                <a:solidFill>
                  <a:srgbClr val="262D38"/>
                </a:solidFill>
                <a:latin typeface="Microsoft YaHei"/>
              </a:rPr>
              <a:t>模型像一匹有力量但容易跑偏的马，Harness 负责让力量被正确引导。</a:t>
            </a:r>
          </a:p>
        </p:txBody>
      </p:sp>
      <p:sp>
        <p:nvSpPr>
          <p:cNvPr id="14" name="Rounded Rectangle 13"/>
          <p:cNvSpPr/>
          <p:nvPr/>
        </p:nvSpPr>
        <p:spPr>
          <a:xfrm>
            <a:off x="7973568" y="1828800"/>
            <a:ext cx="3566160" cy="3566160"/>
          </a:xfrm>
          <a:prstGeom prst="roundRect">
            <a:avLst/>
          </a:prstGeom>
          <a:solidFill>
            <a:srgbClr val="FFFFFF"/>
          </a:solidFill>
          <a:ln w="1524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38160" y="1975104"/>
            <a:ext cx="3236976" cy="54864"/>
          </a:xfrm>
          <a:prstGeom prst="rect">
            <a:avLst/>
          </a:prstGeom>
          <a:solidFill>
            <a:srgbClr val="BC91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19872" y="2121408"/>
            <a:ext cx="3273552" cy="320040"/>
          </a:xfrm>
          <a:prstGeom prst="rect">
            <a:avLst/>
          </a:prstGeom>
          <a:noFill/>
        </p:spPr>
        <p:txBody>
          <a:bodyPr wrap="square" anchor="t">
            <a:spAutoFit/>
          </a:bodyPr>
          <a:lstStyle/>
          <a:p>
            <a:pPr algn="ctr"/>
            <a:r>
              <a:rPr sz="1700" b="1">
                <a:solidFill>
                  <a:srgbClr val="192A46"/>
                </a:solidFill>
                <a:latin typeface="Microsoft YaHei"/>
              </a:rPr>
              <a:t>关系</a:t>
            </a:r>
          </a:p>
        </p:txBody>
      </p:sp>
      <p:sp>
        <p:nvSpPr>
          <p:cNvPr id="17" name="TextBox 16"/>
          <p:cNvSpPr txBox="1"/>
          <p:nvPr/>
        </p:nvSpPr>
        <p:spPr>
          <a:xfrm>
            <a:off x="8119872" y="2542032"/>
            <a:ext cx="3273552" cy="2724912"/>
          </a:xfrm>
          <a:prstGeom prst="rect">
            <a:avLst/>
          </a:prstGeom>
          <a:noFill/>
        </p:spPr>
        <p:txBody>
          <a:bodyPr wrap="square">
            <a:spAutoFit/>
          </a:bodyPr>
          <a:lstStyle/>
          <a:p>
            <a:pPr algn="ctr">
              <a:spcAft>
                <a:spcPts val="600"/>
              </a:spcAft>
            </a:pPr>
            <a:r>
              <a:rPr sz="1500">
                <a:solidFill>
                  <a:srgbClr val="262D38"/>
                </a:solidFill>
                <a:latin typeface="Microsoft YaHei"/>
              </a:rPr>
              <a:t>Prompt Engineering 关注“怎么说”。</a:t>
            </a:r>
          </a:p>
          <a:p>
            <a:pPr algn="ctr">
              <a:spcAft>
                <a:spcPts val="600"/>
              </a:spcAft>
            </a:pPr>
            <a:r>
              <a:rPr sz="1500">
                <a:solidFill>
                  <a:srgbClr val="262D38"/>
                </a:solidFill>
                <a:latin typeface="Microsoft YaHei"/>
              </a:rPr>
              <a:t>Context Engineering 关注“给它看什么”。</a:t>
            </a:r>
          </a:p>
          <a:p>
            <a:pPr algn="ctr">
              <a:spcAft>
                <a:spcPts val="600"/>
              </a:spcAft>
            </a:pPr>
            <a:r>
              <a:rPr sz="1500">
                <a:solidFill>
                  <a:srgbClr val="262D38"/>
                </a:solidFill>
                <a:latin typeface="Microsoft YaHei"/>
              </a:rPr>
              <a:t>Harness Engineering 关注“整个系统如何防错、验证和修复”。</a:t>
            </a:r>
          </a:p>
        </p:txBody>
      </p:sp>
      <p:sp>
        <p:nvSpPr>
          <p:cNvPr id="18" name="TextBox 17"/>
          <p:cNvSpPr txBox="1"/>
          <p:nvPr/>
        </p:nvSpPr>
        <p:spPr>
          <a:xfrm>
            <a:off x="411480" y="6400800"/>
            <a:ext cx="11155680" cy="182880"/>
          </a:xfrm>
          <a:prstGeom prst="rect">
            <a:avLst/>
          </a:prstGeom>
          <a:noFill/>
        </p:spPr>
        <p:txBody>
          <a:bodyPr wrap="none">
            <a:spAutoFit/>
          </a:bodyPr>
          <a:lstStyle/>
          <a:p>
            <a:pPr algn="r"/>
            <a:r>
              <a:rPr sz="900">
                <a:solidFill>
                  <a:srgbClr val="6C788A"/>
                </a:solidFill>
                <a:latin typeface="Aptos"/>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191695" cy="310896"/>
          </a:xfrm>
          <a:prstGeom prst="rect">
            <a:avLst/>
          </a:prstGeom>
          <a:solidFill>
            <a:srgbClr val="19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75488"/>
            <a:ext cx="10698480" cy="228600"/>
          </a:xfrm>
          <a:prstGeom prst="rect">
            <a:avLst/>
          </a:prstGeom>
          <a:noFill/>
        </p:spPr>
        <p:txBody>
          <a:bodyPr wrap="square" anchor="t">
            <a:spAutoFit/>
          </a:bodyPr>
          <a:lstStyle/>
          <a:p>
            <a:pPr algn="ctr"/>
            <a:r>
              <a:rPr sz="1100" b="1">
                <a:solidFill>
                  <a:srgbClr val="197B8A"/>
                </a:solidFill>
                <a:latin typeface="Aptos"/>
              </a:rPr>
              <a:t>WHY NOW</a:t>
            </a:r>
          </a:p>
        </p:txBody>
      </p:sp>
      <p:sp>
        <p:nvSpPr>
          <p:cNvPr id="4" name="TextBox 3"/>
          <p:cNvSpPr txBox="1"/>
          <p:nvPr/>
        </p:nvSpPr>
        <p:spPr>
          <a:xfrm>
            <a:off x="685800" y="749808"/>
            <a:ext cx="10835640" cy="502920"/>
          </a:xfrm>
          <a:prstGeom prst="rect">
            <a:avLst/>
          </a:prstGeom>
          <a:noFill/>
        </p:spPr>
        <p:txBody>
          <a:bodyPr wrap="square" anchor="t">
            <a:spAutoFit/>
          </a:bodyPr>
          <a:lstStyle/>
          <a:p>
            <a:pPr algn="ctr"/>
            <a:r>
              <a:rPr sz="2400" b="1">
                <a:solidFill>
                  <a:srgbClr val="192A46"/>
                </a:solidFill>
                <a:latin typeface="Microsoft YaHei"/>
              </a:rPr>
              <a:t>为什么它现在成为关键议题</a:t>
            </a:r>
          </a:p>
        </p:txBody>
      </p:sp>
      <p:sp>
        <p:nvSpPr>
          <p:cNvPr id="5" name="TextBox 4"/>
          <p:cNvSpPr txBox="1"/>
          <p:nvPr/>
        </p:nvSpPr>
        <p:spPr>
          <a:xfrm>
            <a:off x="960120" y="1234440"/>
            <a:ext cx="10287000" cy="411480"/>
          </a:xfrm>
          <a:prstGeom prst="rect">
            <a:avLst/>
          </a:prstGeom>
          <a:noFill/>
        </p:spPr>
        <p:txBody>
          <a:bodyPr wrap="square" anchor="t">
            <a:spAutoFit/>
          </a:bodyPr>
          <a:lstStyle/>
          <a:p>
            <a:pPr algn="ctr"/>
            <a:r>
              <a:rPr sz="1400" b="0">
                <a:solidFill>
                  <a:srgbClr val="6C788A"/>
                </a:solidFill>
                <a:latin typeface="Microsoft YaHei"/>
              </a:rPr>
              <a:t>多个独立团队已经给出了高度一致的信号。</a:t>
            </a:r>
          </a:p>
        </p:txBody>
      </p:sp>
      <p:sp>
        <p:nvSpPr>
          <p:cNvPr id="6" name="Rounded Rectangle 5"/>
          <p:cNvSpPr/>
          <p:nvPr/>
        </p:nvSpPr>
        <p:spPr>
          <a:xfrm>
            <a:off x="804672" y="1783080"/>
            <a:ext cx="2331720" cy="1188720"/>
          </a:xfrm>
          <a:prstGeom prst="roundRect">
            <a:avLst/>
          </a:prstGeom>
          <a:solidFill>
            <a:srgbClr val="FFFFFF"/>
          </a:solidFill>
          <a:ln>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901952"/>
            <a:ext cx="2331720" cy="310896"/>
          </a:xfrm>
          <a:prstGeom prst="rect">
            <a:avLst/>
          </a:prstGeom>
          <a:noFill/>
        </p:spPr>
        <p:txBody>
          <a:bodyPr wrap="square" anchor="t">
            <a:spAutoFit/>
          </a:bodyPr>
          <a:lstStyle/>
          <a:p>
            <a:pPr algn="ctr"/>
            <a:r>
              <a:rPr sz="2400" b="1">
                <a:solidFill>
                  <a:srgbClr val="197B8A"/>
                </a:solidFill>
                <a:latin typeface="Aptos"/>
              </a:rPr>
              <a:t>6.7% → 68.3%</a:t>
            </a:r>
          </a:p>
        </p:txBody>
      </p:sp>
      <p:sp>
        <p:nvSpPr>
          <p:cNvPr id="8" name="TextBox 7"/>
          <p:cNvSpPr txBox="1"/>
          <p:nvPr/>
        </p:nvSpPr>
        <p:spPr>
          <a:xfrm>
            <a:off x="877824" y="2350008"/>
            <a:ext cx="2185416" cy="438912"/>
          </a:xfrm>
          <a:prstGeom prst="rect">
            <a:avLst/>
          </a:prstGeom>
          <a:noFill/>
        </p:spPr>
        <p:txBody>
          <a:bodyPr wrap="square" anchor="t">
            <a:spAutoFit/>
          </a:bodyPr>
          <a:lstStyle/>
          <a:p>
            <a:pPr algn="ctr"/>
            <a:r>
              <a:rPr sz="1200" b="0">
                <a:solidFill>
                  <a:srgbClr val="6C788A"/>
                </a:solidFill>
                <a:latin typeface="Microsoft YaHei"/>
              </a:rPr>
              <a:t>仅改 Harness 的工具接口形式，基准分显著提升</a:t>
            </a:r>
          </a:p>
        </p:txBody>
      </p:sp>
      <p:sp>
        <p:nvSpPr>
          <p:cNvPr id="9" name="Rounded Rectangle 8"/>
          <p:cNvSpPr/>
          <p:nvPr/>
        </p:nvSpPr>
        <p:spPr>
          <a:xfrm>
            <a:off x="3273552" y="1783080"/>
            <a:ext cx="2331720" cy="1188720"/>
          </a:xfrm>
          <a:prstGeom prst="roundRect">
            <a:avLst/>
          </a:prstGeom>
          <a:solidFill>
            <a:srgbClr val="FFFFFF"/>
          </a:solidFill>
          <a:ln>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73552" y="1901952"/>
            <a:ext cx="2331720" cy="310896"/>
          </a:xfrm>
          <a:prstGeom prst="rect">
            <a:avLst/>
          </a:prstGeom>
          <a:noFill/>
        </p:spPr>
        <p:txBody>
          <a:bodyPr wrap="square" anchor="t">
            <a:spAutoFit/>
          </a:bodyPr>
          <a:lstStyle/>
          <a:p>
            <a:pPr algn="ctr"/>
            <a:r>
              <a:rPr sz="2400" b="1">
                <a:solidFill>
                  <a:srgbClr val="375990"/>
                </a:solidFill>
                <a:latin typeface="Aptos"/>
              </a:rPr>
              <a:t>30 → 5</a:t>
            </a:r>
          </a:p>
        </p:txBody>
      </p:sp>
      <p:sp>
        <p:nvSpPr>
          <p:cNvPr id="11" name="TextBox 10"/>
          <p:cNvSpPr txBox="1"/>
          <p:nvPr/>
        </p:nvSpPr>
        <p:spPr>
          <a:xfrm>
            <a:off x="3346704" y="2350008"/>
            <a:ext cx="2185416" cy="438912"/>
          </a:xfrm>
          <a:prstGeom prst="rect">
            <a:avLst/>
          </a:prstGeom>
          <a:noFill/>
        </p:spPr>
        <p:txBody>
          <a:bodyPr wrap="square" anchor="t">
            <a:spAutoFit/>
          </a:bodyPr>
          <a:lstStyle/>
          <a:p>
            <a:pPr algn="ctr"/>
            <a:r>
              <a:rPr sz="1200" b="0">
                <a:solidFill>
                  <a:srgbClr val="6C788A"/>
                </a:solidFill>
                <a:latin typeface="Microsoft YaHei"/>
              </a:rPr>
              <a:t>LangChain 仅通过 Harness 改进，排名大幅上升</a:t>
            </a:r>
          </a:p>
        </p:txBody>
      </p:sp>
      <p:sp>
        <p:nvSpPr>
          <p:cNvPr id="12" name="Rounded Rectangle 11"/>
          <p:cNvSpPr/>
          <p:nvPr/>
        </p:nvSpPr>
        <p:spPr>
          <a:xfrm>
            <a:off x="5742432" y="1783080"/>
            <a:ext cx="2331720" cy="1188720"/>
          </a:xfrm>
          <a:prstGeom prst="roundRect">
            <a:avLst/>
          </a:prstGeom>
          <a:solidFill>
            <a:srgbClr val="FFFFFF"/>
          </a:solidFill>
          <a:ln>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42432" y="1901952"/>
            <a:ext cx="2331720" cy="310896"/>
          </a:xfrm>
          <a:prstGeom prst="rect">
            <a:avLst/>
          </a:prstGeom>
          <a:noFill/>
        </p:spPr>
        <p:txBody>
          <a:bodyPr wrap="square" anchor="t">
            <a:spAutoFit/>
          </a:bodyPr>
          <a:lstStyle/>
          <a:p>
            <a:pPr algn="ctr"/>
            <a:r>
              <a:rPr sz="2400" b="1">
                <a:solidFill>
                  <a:srgbClr val="BC9142"/>
                </a:solidFill>
                <a:latin typeface="Aptos"/>
              </a:rPr>
              <a:t>~40%</a:t>
            </a:r>
          </a:p>
        </p:txBody>
      </p:sp>
      <p:sp>
        <p:nvSpPr>
          <p:cNvPr id="14" name="TextBox 13"/>
          <p:cNvSpPr txBox="1"/>
          <p:nvPr/>
        </p:nvSpPr>
        <p:spPr>
          <a:xfrm>
            <a:off x="5815584" y="2350008"/>
            <a:ext cx="2185416" cy="438912"/>
          </a:xfrm>
          <a:prstGeom prst="rect">
            <a:avLst/>
          </a:prstGeom>
          <a:noFill/>
        </p:spPr>
        <p:txBody>
          <a:bodyPr wrap="square" anchor="t">
            <a:spAutoFit/>
          </a:bodyPr>
          <a:lstStyle/>
          <a:p>
            <a:pPr algn="ctr"/>
            <a:r>
              <a:rPr sz="1200" b="0">
                <a:solidFill>
                  <a:srgbClr val="6C788A"/>
                </a:solidFill>
                <a:latin typeface="Microsoft YaHei"/>
              </a:rPr>
              <a:t>上下文利用率超过甜蜜区间后，效果反而下降</a:t>
            </a:r>
          </a:p>
        </p:txBody>
      </p:sp>
      <p:sp>
        <p:nvSpPr>
          <p:cNvPr id="15" name="Rounded Rectangle 14"/>
          <p:cNvSpPr/>
          <p:nvPr/>
        </p:nvSpPr>
        <p:spPr>
          <a:xfrm>
            <a:off x="8211312" y="1783080"/>
            <a:ext cx="2331720" cy="1188720"/>
          </a:xfrm>
          <a:prstGeom prst="roundRect">
            <a:avLst/>
          </a:prstGeom>
          <a:solidFill>
            <a:srgbClr val="FFFFFF"/>
          </a:solidFill>
          <a:ln>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11312" y="1901952"/>
            <a:ext cx="2331720" cy="310896"/>
          </a:xfrm>
          <a:prstGeom prst="rect">
            <a:avLst/>
          </a:prstGeom>
          <a:noFill/>
        </p:spPr>
        <p:txBody>
          <a:bodyPr wrap="square" anchor="t">
            <a:spAutoFit/>
          </a:bodyPr>
          <a:lstStyle/>
          <a:p>
            <a:pPr algn="ctr"/>
            <a:r>
              <a:rPr sz="2400" b="1">
                <a:solidFill>
                  <a:srgbClr val="4A7C59"/>
                </a:solidFill>
                <a:latin typeface="Aptos"/>
              </a:rPr>
              <a:t>5+ 团队</a:t>
            </a:r>
          </a:p>
        </p:txBody>
      </p:sp>
      <p:sp>
        <p:nvSpPr>
          <p:cNvPr id="17" name="TextBox 16"/>
          <p:cNvSpPr txBox="1"/>
          <p:nvPr/>
        </p:nvSpPr>
        <p:spPr>
          <a:xfrm>
            <a:off x="8284464" y="2350008"/>
            <a:ext cx="2185416" cy="438912"/>
          </a:xfrm>
          <a:prstGeom prst="rect">
            <a:avLst/>
          </a:prstGeom>
          <a:noFill/>
        </p:spPr>
        <p:txBody>
          <a:bodyPr wrap="square" anchor="t">
            <a:spAutoFit/>
          </a:bodyPr>
          <a:lstStyle/>
          <a:p>
            <a:pPr algn="ctr"/>
            <a:r>
              <a:rPr sz="1200" b="0">
                <a:solidFill>
                  <a:srgbClr val="6C788A"/>
                </a:solidFill>
                <a:latin typeface="Microsoft YaHei"/>
              </a:rPr>
              <a:t>领先实践反复指向同一判断：基础设施是瓶颈</a:t>
            </a:r>
          </a:p>
        </p:txBody>
      </p:sp>
      <p:sp>
        <p:nvSpPr>
          <p:cNvPr id="18" name="Rounded Rectangle 17"/>
          <p:cNvSpPr/>
          <p:nvPr/>
        </p:nvSpPr>
        <p:spPr>
          <a:xfrm>
            <a:off x="1097280" y="3429000"/>
            <a:ext cx="10012680" cy="2103120"/>
          </a:xfrm>
          <a:prstGeom prst="roundRect">
            <a:avLst/>
          </a:prstGeom>
          <a:solidFill>
            <a:srgbClr val="FFFFFF"/>
          </a:solidFill>
          <a:ln w="1524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261872" y="3575304"/>
            <a:ext cx="9683496" cy="54864"/>
          </a:xfrm>
          <a:prstGeom prst="rect">
            <a:avLst/>
          </a:prstGeom>
          <a:solidFill>
            <a:srgbClr val="9C49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243584" y="3721608"/>
            <a:ext cx="9720072" cy="320040"/>
          </a:xfrm>
          <a:prstGeom prst="rect">
            <a:avLst/>
          </a:prstGeom>
          <a:noFill/>
        </p:spPr>
        <p:txBody>
          <a:bodyPr wrap="square" anchor="t">
            <a:spAutoFit/>
          </a:bodyPr>
          <a:lstStyle/>
          <a:p>
            <a:pPr algn="ctr"/>
            <a:r>
              <a:rPr sz="1700" b="1">
                <a:solidFill>
                  <a:srgbClr val="192A46"/>
                </a:solidFill>
                <a:latin typeface="Microsoft YaHei"/>
              </a:rPr>
              <a:t>管理层需要看到的判断</a:t>
            </a:r>
          </a:p>
        </p:txBody>
      </p:sp>
      <p:sp>
        <p:nvSpPr>
          <p:cNvPr id="21" name="TextBox 20"/>
          <p:cNvSpPr txBox="1"/>
          <p:nvPr/>
        </p:nvSpPr>
        <p:spPr>
          <a:xfrm>
            <a:off x="1243584" y="4142232"/>
            <a:ext cx="9720072" cy="1261872"/>
          </a:xfrm>
          <a:prstGeom prst="rect">
            <a:avLst/>
          </a:prstGeom>
          <a:noFill/>
        </p:spPr>
        <p:txBody>
          <a:bodyPr wrap="square">
            <a:spAutoFit/>
          </a:bodyPr>
          <a:lstStyle/>
          <a:p>
            <a:pPr algn="ctr">
              <a:spcAft>
                <a:spcPts val="600"/>
              </a:spcAft>
            </a:pPr>
            <a:r>
              <a:rPr sz="1500">
                <a:solidFill>
                  <a:srgbClr val="262D38"/>
                </a:solidFill>
                <a:latin typeface="Microsoft YaHei"/>
              </a:rPr>
              <a:t>第一，今天的瓶颈已经从“模型是否足够聪明”转移到“系统是否足够可控”。</a:t>
            </a:r>
          </a:p>
          <a:p>
            <a:pPr algn="ctr">
              <a:spcAft>
                <a:spcPts val="600"/>
              </a:spcAft>
            </a:pPr>
            <a:r>
              <a:rPr sz="1500">
                <a:solidFill>
                  <a:srgbClr val="262D38"/>
                </a:solidFill>
                <a:latin typeface="Microsoft YaHei"/>
              </a:rPr>
              <a:t>第二，更多 token、更多工具和更长上下文并不自动带来更好结果，甚至会恶化质量。</a:t>
            </a:r>
          </a:p>
          <a:p>
            <a:pPr algn="ctr">
              <a:spcAft>
                <a:spcPts val="600"/>
              </a:spcAft>
            </a:pPr>
            <a:r>
              <a:rPr sz="1500">
                <a:solidFill>
                  <a:srgbClr val="262D38"/>
                </a:solidFill>
                <a:latin typeface="Microsoft YaHei"/>
              </a:rPr>
              <a:t>第三，谁先把 Agent 纳入工程底座，谁就更可能把模型能力转化为真实研发效率。</a:t>
            </a:r>
          </a:p>
        </p:txBody>
      </p:sp>
      <p:sp>
        <p:nvSpPr>
          <p:cNvPr id="22" name="TextBox 21"/>
          <p:cNvSpPr txBox="1"/>
          <p:nvPr/>
        </p:nvSpPr>
        <p:spPr>
          <a:xfrm>
            <a:off x="411480" y="6400800"/>
            <a:ext cx="11155680" cy="182880"/>
          </a:xfrm>
          <a:prstGeom prst="rect">
            <a:avLst/>
          </a:prstGeom>
          <a:noFill/>
        </p:spPr>
        <p:txBody>
          <a:bodyPr wrap="none">
            <a:spAutoFit/>
          </a:bodyPr>
          <a:lstStyle/>
          <a:p>
            <a:pPr algn="r"/>
            <a:r>
              <a:rPr sz="900">
                <a:solidFill>
                  <a:srgbClr val="6C788A"/>
                </a:solidFill>
                <a:latin typeface="Aptos"/>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191695" cy="310896"/>
          </a:xfrm>
          <a:prstGeom prst="rect">
            <a:avLst/>
          </a:prstGeom>
          <a:solidFill>
            <a:srgbClr val="19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75488"/>
            <a:ext cx="10698480" cy="228600"/>
          </a:xfrm>
          <a:prstGeom prst="rect">
            <a:avLst/>
          </a:prstGeom>
          <a:noFill/>
        </p:spPr>
        <p:txBody>
          <a:bodyPr wrap="square" anchor="t">
            <a:spAutoFit/>
          </a:bodyPr>
          <a:lstStyle/>
          <a:p>
            <a:pPr algn="ctr"/>
            <a:r>
              <a:rPr sz="1100" b="1">
                <a:solidFill>
                  <a:srgbClr val="197B8A"/>
                </a:solidFill>
                <a:latin typeface="Aptos"/>
              </a:rPr>
              <a:t>FAILURE MODES</a:t>
            </a:r>
          </a:p>
        </p:txBody>
      </p:sp>
      <p:sp>
        <p:nvSpPr>
          <p:cNvPr id="4" name="TextBox 3"/>
          <p:cNvSpPr txBox="1"/>
          <p:nvPr/>
        </p:nvSpPr>
        <p:spPr>
          <a:xfrm>
            <a:off x="685800" y="749808"/>
            <a:ext cx="10835640" cy="502920"/>
          </a:xfrm>
          <a:prstGeom prst="rect">
            <a:avLst/>
          </a:prstGeom>
          <a:noFill/>
        </p:spPr>
        <p:txBody>
          <a:bodyPr wrap="square" anchor="t">
            <a:spAutoFit/>
          </a:bodyPr>
          <a:lstStyle/>
          <a:p>
            <a:pPr algn="ctr"/>
            <a:r>
              <a:rPr sz="2400" b="1">
                <a:solidFill>
                  <a:srgbClr val="192A46"/>
                </a:solidFill>
                <a:latin typeface="Microsoft YaHei"/>
              </a:rPr>
              <a:t>Agent 最常见的四类失效模式</a:t>
            </a:r>
          </a:p>
        </p:txBody>
      </p:sp>
      <p:sp>
        <p:nvSpPr>
          <p:cNvPr id="5" name="TextBox 4"/>
          <p:cNvSpPr txBox="1"/>
          <p:nvPr/>
        </p:nvSpPr>
        <p:spPr>
          <a:xfrm>
            <a:off x="960120" y="1234440"/>
            <a:ext cx="10287000" cy="411480"/>
          </a:xfrm>
          <a:prstGeom prst="rect">
            <a:avLst/>
          </a:prstGeom>
          <a:noFill/>
        </p:spPr>
        <p:txBody>
          <a:bodyPr wrap="square" anchor="t">
            <a:spAutoFit/>
          </a:bodyPr>
          <a:lstStyle/>
          <a:p>
            <a:pPr algn="ctr"/>
            <a:r>
              <a:rPr sz="1400" b="0">
                <a:solidFill>
                  <a:srgbClr val="6C788A"/>
                </a:solidFill>
                <a:latin typeface="Microsoft YaHei"/>
              </a:rPr>
              <a:t>Harness 的价值，首先体现在防止这些问题反复发生。</a:t>
            </a:r>
          </a:p>
        </p:txBody>
      </p:sp>
      <p:sp>
        <p:nvSpPr>
          <p:cNvPr id="6" name="Rounded Rectangle 5"/>
          <p:cNvSpPr/>
          <p:nvPr/>
        </p:nvSpPr>
        <p:spPr>
          <a:xfrm>
            <a:off x="658368" y="1783080"/>
            <a:ext cx="2743200" cy="3840480"/>
          </a:xfrm>
          <a:prstGeom prst="roundRect">
            <a:avLst/>
          </a:prstGeom>
          <a:solidFill>
            <a:srgbClr val="FFFFFF"/>
          </a:solidFill>
          <a:ln w="1524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1929384"/>
            <a:ext cx="2414016" cy="54864"/>
          </a:xfrm>
          <a:prstGeom prst="rect">
            <a:avLst/>
          </a:prstGeom>
          <a:solidFill>
            <a:srgbClr val="197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2075688"/>
            <a:ext cx="2450592" cy="320040"/>
          </a:xfrm>
          <a:prstGeom prst="rect">
            <a:avLst/>
          </a:prstGeom>
          <a:noFill/>
        </p:spPr>
        <p:txBody>
          <a:bodyPr wrap="square" anchor="t">
            <a:spAutoFit/>
          </a:bodyPr>
          <a:lstStyle/>
          <a:p>
            <a:pPr algn="ctr"/>
            <a:r>
              <a:rPr sz="1700" b="1">
                <a:solidFill>
                  <a:srgbClr val="192A46"/>
                </a:solidFill>
                <a:latin typeface="Microsoft YaHei"/>
              </a:rPr>
              <a:t>One-shot 失控</a:t>
            </a:r>
          </a:p>
        </p:txBody>
      </p:sp>
      <p:sp>
        <p:nvSpPr>
          <p:cNvPr id="9" name="TextBox 8"/>
          <p:cNvSpPr txBox="1"/>
          <p:nvPr/>
        </p:nvSpPr>
        <p:spPr>
          <a:xfrm>
            <a:off x="804672" y="2496312"/>
            <a:ext cx="2450592" cy="2999232"/>
          </a:xfrm>
          <a:prstGeom prst="rect">
            <a:avLst/>
          </a:prstGeom>
          <a:noFill/>
        </p:spPr>
        <p:txBody>
          <a:bodyPr wrap="square">
            <a:spAutoFit/>
          </a:bodyPr>
          <a:lstStyle/>
          <a:p>
            <a:pPr algn="ctr">
              <a:spcAft>
                <a:spcPts val="600"/>
              </a:spcAft>
            </a:pPr>
            <a:r>
              <a:rPr sz="1400">
                <a:solidFill>
                  <a:srgbClr val="262D38"/>
                </a:solidFill>
                <a:latin typeface="Microsoft YaHei"/>
              </a:rPr>
              <a:t>试图一步做完所有任务。</a:t>
            </a:r>
          </a:p>
          <a:p>
            <a:pPr algn="ctr">
              <a:spcAft>
                <a:spcPts val="600"/>
              </a:spcAft>
            </a:pPr>
            <a:r>
              <a:rPr sz="1400">
                <a:solidFill>
                  <a:srgbClr val="262D38"/>
                </a:solidFill>
                <a:latin typeface="Microsoft YaHei"/>
              </a:rPr>
              <a:t>上下文耗尽后只留下半成品。</a:t>
            </a:r>
          </a:p>
          <a:p>
            <a:pPr algn="ctr">
              <a:spcAft>
                <a:spcPts val="600"/>
              </a:spcAft>
            </a:pPr>
            <a:r>
              <a:rPr sz="1400">
                <a:solidFill>
                  <a:srgbClr val="262D38"/>
                </a:solidFill>
                <a:latin typeface="Microsoft YaHei"/>
              </a:rPr>
              <a:t>下一次会话几乎无法无损接续。</a:t>
            </a:r>
          </a:p>
        </p:txBody>
      </p:sp>
      <p:sp>
        <p:nvSpPr>
          <p:cNvPr id="10" name="Rounded Rectangle 9"/>
          <p:cNvSpPr/>
          <p:nvPr/>
        </p:nvSpPr>
        <p:spPr>
          <a:xfrm>
            <a:off x="3611880" y="1783080"/>
            <a:ext cx="2743200" cy="3840480"/>
          </a:xfrm>
          <a:prstGeom prst="roundRect">
            <a:avLst/>
          </a:prstGeom>
          <a:solidFill>
            <a:srgbClr val="FFFFFF"/>
          </a:solidFill>
          <a:ln w="1524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776472" y="1929384"/>
            <a:ext cx="2414016" cy="54864"/>
          </a:xfrm>
          <a:prstGeom prst="rect">
            <a:avLst/>
          </a:prstGeom>
          <a:solidFill>
            <a:srgbClr val="375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58184" y="2075688"/>
            <a:ext cx="2450592" cy="320040"/>
          </a:xfrm>
          <a:prstGeom prst="rect">
            <a:avLst/>
          </a:prstGeom>
          <a:noFill/>
        </p:spPr>
        <p:txBody>
          <a:bodyPr wrap="square" anchor="t">
            <a:spAutoFit/>
          </a:bodyPr>
          <a:lstStyle/>
          <a:p>
            <a:pPr algn="ctr"/>
            <a:r>
              <a:rPr sz="1700" b="1">
                <a:solidFill>
                  <a:srgbClr val="192A46"/>
                </a:solidFill>
                <a:latin typeface="Microsoft YaHei"/>
              </a:rPr>
              <a:t>过早宣布完成</a:t>
            </a:r>
          </a:p>
        </p:txBody>
      </p:sp>
      <p:sp>
        <p:nvSpPr>
          <p:cNvPr id="13" name="TextBox 12"/>
          <p:cNvSpPr txBox="1"/>
          <p:nvPr/>
        </p:nvSpPr>
        <p:spPr>
          <a:xfrm>
            <a:off x="3758184" y="2496312"/>
            <a:ext cx="2450592" cy="2999232"/>
          </a:xfrm>
          <a:prstGeom prst="rect">
            <a:avLst/>
          </a:prstGeom>
          <a:noFill/>
        </p:spPr>
        <p:txBody>
          <a:bodyPr wrap="square">
            <a:spAutoFit/>
          </a:bodyPr>
          <a:lstStyle/>
          <a:p>
            <a:pPr algn="ctr">
              <a:spcAft>
                <a:spcPts val="600"/>
              </a:spcAft>
            </a:pPr>
            <a:r>
              <a:rPr sz="1400">
                <a:solidFill>
                  <a:srgbClr val="262D38"/>
                </a:solidFill>
                <a:latin typeface="Microsoft YaHei"/>
              </a:rPr>
              <a:t>看到局部进展就认定任务结束。</a:t>
            </a:r>
          </a:p>
          <a:p>
            <a:pPr algn="ctr">
              <a:spcAft>
                <a:spcPts val="600"/>
              </a:spcAft>
            </a:pPr>
            <a:r>
              <a:rPr sz="1400">
                <a:solidFill>
                  <a:srgbClr val="262D38"/>
                </a:solidFill>
                <a:latin typeface="Microsoft YaHei"/>
              </a:rPr>
              <a:t>忽略未覆盖的功能与边界条件。</a:t>
            </a:r>
          </a:p>
          <a:p>
            <a:pPr algn="ctr">
              <a:spcAft>
                <a:spcPts val="600"/>
              </a:spcAft>
            </a:pPr>
            <a:r>
              <a:rPr sz="1400">
                <a:solidFill>
                  <a:srgbClr val="262D38"/>
                </a:solidFill>
                <a:latin typeface="Microsoft YaHei"/>
              </a:rPr>
              <a:t>形成虚假的任务完成感。</a:t>
            </a:r>
          </a:p>
        </p:txBody>
      </p:sp>
      <p:sp>
        <p:nvSpPr>
          <p:cNvPr id="14" name="Rounded Rectangle 13"/>
          <p:cNvSpPr/>
          <p:nvPr/>
        </p:nvSpPr>
        <p:spPr>
          <a:xfrm>
            <a:off x="6565392" y="1783080"/>
            <a:ext cx="2743200" cy="3840480"/>
          </a:xfrm>
          <a:prstGeom prst="roundRect">
            <a:avLst/>
          </a:prstGeom>
          <a:solidFill>
            <a:srgbClr val="FFFFFF"/>
          </a:solidFill>
          <a:ln w="1524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729984" y="1929384"/>
            <a:ext cx="2414016" cy="54864"/>
          </a:xfrm>
          <a:prstGeom prst="rect">
            <a:avLst/>
          </a:prstGeom>
          <a:solidFill>
            <a:srgbClr val="BC91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11696" y="2075688"/>
            <a:ext cx="2450592" cy="320040"/>
          </a:xfrm>
          <a:prstGeom prst="rect">
            <a:avLst/>
          </a:prstGeom>
          <a:noFill/>
        </p:spPr>
        <p:txBody>
          <a:bodyPr wrap="square" anchor="t">
            <a:spAutoFit/>
          </a:bodyPr>
          <a:lstStyle/>
          <a:p>
            <a:pPr algn="ctr"/>
            <a:r>
              <a:rPr sz="1700" b="1">
                <a:solidFill>
                  <a:srgbClr val="192A46"/>
                </a:solidFill>
                <a:latin typeface="Microsoft YaHei"/>
              </a:rPr>
              <a:t>写完即算通过</a:t>
            </a:r>
          </a:p>
        </p:txBody>
      </p:sp>
      <p:sp>
        <p:nvSpPr>
          <p:cNvPr id="17" name="TextBox 16"/>
          <p:cNvSpPr txBox="1"/>
          <p:nvPr/>
        </p:nvSpPr>
        <p:spPr>
          <a:xfrm>
            <a:off x="6711696" y="2496312"/>
            <a:ext cx="2450592" cy="2999232"/>
          </a:xfrm>
          <a:prstGeom prst="rect">
            <a:avLst/>
          </a:prstGeom>
          <a:noFill/>
        </p:spPr>
        <p:txBody>
          <a:bodyPr wrap="square">
            <a:spAutoFit/>
          </a:bodyPr>
          <a:lstStyle/>
          <a:p>
            <a:pPr algn="ctr">
              <a:spcAft>
                <a:spcPts val="600"/>
              </a:spcAft>
            </a:pPr>
            <a:r>
              <a:rPr sz="1400">
                <a:solidFill>
                  <a:srgbClr val="262D38"/>
                </a:solidFill>
                <a:latin typeface="Microsoft YaHei"/>
              </a:rPr>
              <a:t>代码生成成功不等于功能真正可用。</a:t>
            </a:r>
          </a:p>
          <a:p>
            <a:pPr algn="ctr">
              <a:spcAft>
                <a:spcPts val="600"/>
              </a:spcAft>
            </a:pPr>
            <a:r>
              <a:rPr sz="1400">
                <a:solidFill>
                  <a:srgbClr val="262D38"/>
                </a:solidFill>
                <a:latin typeface="Microsoft YaHei"/>
              </a:rPr>
              <a:t>单测或 curl 通过不代表端到端正确。</a:t>
            </a:r>
          </a:p>
          <a:p>
            <a:pPr algn="ctr">
              <a:spcAft>
                <a:spcPts val="600"/>
              </a:spcAft>
            </a:pPr>
            <a:r>
              <a:rPr sz="1400">
                <a:solidFill>
                  <a:srgbClr val="262D38"/>
                </a:solidFill>
                <a:latin typeface="Microsoft YaHei"/>
              </a:rPr>
              <a:t>功能验证往往被系统性低估。</a:t>
            </a:r>
          </a:p>
        </p:txBody>
      </p:sp>
      <p:sp>
        <p:nvSpPr>
          <p:cNvPr id="18" name="Rounded Rectangle 17"/>
          <p:cNvSpPr/>
          <p:nvPr/>
        </p:nvSpPr>
        <p:spPr>
          <a:xfrm>
            <a:off x="9518904" y="1783080"/>
            <a:ext cx="2011680" cy="3840480"/>
          </a:xfrm>
          <a:prstGeom prst="roundRect">
            <a:avLst/>
          </a:prstGeom>
          <a:solidFill>
            <a:srgbClr val="FFFFFF"/>
          </a:solidFill>
          <a:ln w="1524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683496" y="1929384"/>
            <a:ext cx="1682496" cy="54864"/>
          </a:xfrm>
          <a:prstGeom prst="rect">
            <a:avLst/>
          </a:prstGeom>
          <a:solidFill>
            <a:srgbClr val="9C49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65208" y="2075688"/>
            <a:ext cx="1719072" cy="320040"/>
          </a:xfrm>
          <a:prstGeom prst="rect">
            <a:avLst/>
          </a:prstGeom>
          <a:noFill/>
        </p:spPr>
        <p:txBody>
          <a:bodyPr wrap="square" anchor="t">
            <a:spAutoFit/>
          </a:bodyPr>
          <a:lstStyle/>
          <a:p>
            <a:pPr algn="ctr"/>
            <a:r>
              <a:rPr sz="1700" b="1">
                <a:solidFill>
                  <a:srgbClr val="192A46"/>
                </a:solidFill>
                <a:latin typeface="Microsoft YaHei"/>
              </a:rPr>
              <a:t>环境冷启动</a:t>
            </a:r>
          </a:p>
        </p:txBody>
      </p:sp>
      <p:sp>
        <p:nvSpPr>
          <p:cNvPr id="21" name="TextBox 20"/>
          <p:cNvSpPr txBox="1"/>
          <p:nvPr/>
        </p:nvSpPr>
        <p:spPr>
          <a:xfrm>
            <a:off x="9665208" y="2496312"/>
            <a:ext cx="1719072" cy="2999232"/>
          </a:xfrm>
          <a:prstGeom prst="rect">
            <a:avLst/>
          </a:prstGeom>
          <a:noFill/>
        </p:spPr>
        <p:txBody>
          <a:bodyPr wrap="square">
            <a:spAutoFit/>
          </a:bodyPr>
          <a:lstStyle/>
          <a:p>
            <a:pPr algn="ctr">
              <a:spcAft>
                <a:spcPts val="600"/>
              </a:spcAft>
            </a:pPr>
            <a:r>
              <a:rPr sz="1400">
                <a:solidFill>
                  <a:srgbClr val="262D38"/>
                </a:solidFill>
                <a:latin typeface="Microsoft YaHei"/>
              </a:rPr>
              <a:t>每个新会话都在重新摸项目。</a:t>
            </a:r>
          </a:p>
          <a:p>
            <a:pPr algn="ctr">
              <a:spcAft>
                <a:spcPts val="600"/>
              </a:spcAft>
            </a:pPr>
            <a:r>
              <a:rPr sz="1400">
                <a:solidFill>
                  <a:srgbClr val="262D38"/>
                </a:solidFill>
                <a:latin typeface="Microsoft YaHei"/>
              </a:rPr>
              <a:t>token 花在理解环境，而不是推进工作。</a:t>
            </a:r>
          </a:p>
          <a:p>
            <a:pPr algn="ctr">
              <a:spcAft>
                <a:spcPts val="600"/>
              </a:spcAft>
            </a:pPr>
            <a:r>
              <a:rPr sz="1400">
                <a:solidFill>
                  <a:srgbClr val="262D38"/>
                </a:solidFill>
                <a:latin typeface="Microsoft YaHei"/>
              </a:rPr>
              <a:t>如果信息不落盘，就无法继承。</a:t>
            </a:r>
          </a:p>
        </p:txBody>
      </p:sp>
      <p:sp>
        <p:nvSpPr>
          <p:cNvPr id="22" name="TextBox 21"/>
          <p:cNvSpPr txBox="1"/>
          <p:nvPr/>
        </p:nvSpPr>
        <p:spPr>
          <a:xfrm>
            <a:off x="411480" y="6400800"/>
            <a:ext cx="11155680" cy="182880"/>
          </a:xfrm>
          <a:prstGeom prst="rect">
            <a:avLst/>
          </a:prstGeom>
          <a:noFill/>
        </p:spPr>
        <p:txBody>
          <a:bodyPr wrap="none">
            <a:spAutoFit/>
          </a:bodyPr>
          <a:lstStyle/>
          <a:p>
            <a:pPr algn="r"/>
            <a:r>
              <a:rPr sz="900">
                <a:solidFill>
                  <a:srgbClr val="6C788A"/>
                </a:solidFill>
                <a:latin typeface="Aptos"/>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191695" cy="310896"/>
          </a:xfrm>
          <a:prstGeom prst="rect">
            <a:avLst/>
          </a:prstGeom>
          <a:solidFill>
            <a:srgbClr val="19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75488"/>
            <a:ext cx="10698480" cy="228600"/>
          </a:xfrm>
          <a:prstGeom prst="rect">
            <a:avLst/>
          </a:prstGeom>
          <a:noFill/>
        </p:spPr>
        <p:txBody>
          <a:bodyPr wrap="square" anchor="t">
            <a:spAutoFit/>
          </a:bodyPr>
          <a:lstStyle/>
          <a:p>
            <a:pPr algn="ctr"/>
            <a:r>
              <a:rPr sz="1100" b="1">
                <a:solidFill>
                  <a:srgbClr val="197B8A"/>
                </a:solidFill>
                <a:latin typeface="Aptos"/>
              </a:rPr>
              <a:t>FRAMEWORK</a:t>
            </a:r>
          </a:p>
        </p:txBody>
      </p:sp>
      <p:sp>
        <p:nvSpPr>
          <p:cNvPr id="4" name="TextBox 3"/>
          <p:cNvSpPr txBox="1"/>
          <p:nvPr/>
        </p:nvSpPr>
        <p:spPr>
          <a:xfrm>
            <a:off x="685800" y="749808"/>
            <a:ext cx="10835640" cy="502920"/>
          </a:xfrm>
          <a:prstGeom prst="rect">
            <a:avLst/>
          </a:prstGeom>
          <a:noFill/>
        </p:spPr>
        <p:txBody>
          <a:bodyPr wrap="square" anchor="t">
            <a:spAutoFit/>
          </a:bodyPr>
          <a:lstStyle/>
          <a:p>
            <a:pPr algn="ctr"/>
            <a:r>
              <a:rPr sz="2400" b="1">
                <a:solidFill>
                  <a:srgbClr val="192A46"/>
                </a:solidFill>
                <a:latin typeface="Microsoft YaHei"/>
              </a:rPr>
              <a:t>Harness Engineering 的四大支柱</a:t>
            </a:r>
          </a:p>
        </p:txBody>
      </p:sp>
      <p:sp>
        <p:nvSpPr>
          <p:cNvPr id="5" name="TextBox 4"/>
          <p:cNvSpPr txBox="1"/>
          <p:nvPr/>
        </p:nvSpPr>
        <p:spPr>
          <a:xfrm>
            <a:off x="960120" y="1234440"/>
            <a:ext cx="10287000" cy="411480"/>
          </a:xfrm>
          <a:prstGeom prst="rect">
            <a:avLst/>
          </a:prstGeom>
          <a:noFill/>
        </p:spPr>
        <p:txBody>
          <a:bodyPr wrap="square" anchor="t">
            <a:spAutoFit/>
          </a:bodyPr>
          <a:lstStyle/>
          <a:p>
            <a:pPr algn="ctr"/>
            <a:r>
              <a:rPr sz="1400" b="0">
                <a:solidFill>
                  <a:srgbClr val="6C788A"/>
                </a:solidFill>
                <a:latin typeface="Microsoft YaHei"/>
              </a:rPr>
              <a:t>这四类能力在主流实践中反复出现，是目前最稳定的方法框架。</a:t>
            </a:r>
          </a:p>
        </p:txBody>
      </p:sp>
      <p:sp>
        <p:nvSpPr>
          <p:cNvPr id="6" name="Rounded Rectangle 5"/>
          <p:cNvSpPr/>
          <p:nvPr/>
        </p:nvSpPr>
        <p:spPr>
          <a:xfrm>
            <a:off x="841248" y="1783080"/>
            <a:ext cx="5074920" cy="1691640"/>
          </a:xfrm>
          <a:prstGeom prst="roundRect">
            <a:avLst/>
          </a:prstGeom>
          <a:solidFill>
            <a:srgbClr val="FFFFFF"/>
          </a:solidFill>
          <a:ln w="1524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05840" y="1929384"/>
            <a:ext cx="4745736" cy="54864"/>
          </a:xfrm>
          <a:prstGeom prst="rect">
            <a:avLst/>
          </a:prstGeom>
          <a:solidFill>
            <a:srgbClr val="197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2075688"/>
            <a:ext cx="4782312" cy="320040"/>
          </a:xfrm>
          <a:prstGeom prst="rect">
            <a:avLst/>
          </a:prstGeom>
          <a:noFill/>
        </p:spPr>
        <p:txBody>
          <a:bodyPr wrap="square" anchor="t">
            <a:spAutoFit/>
          </a:bodyPr>
          <a:lstStyle/>
          <a:p>
            <a:pPr algn="ctr"/>
            <a:r>
              <a:rPr sz="1700" b="1">
                <a:solidFill>
                  <a:srgbClr val="192A46"/>
                </a:solidFill>
                <a:latin typeface="Microsoft YaHei"/>
              </a:rPr>
              <a:t>支柱一：上下文架构</a:t>
            </a:r>
          </a:p>
        </p:txBody>
      </p:sp>
      <p:sp>
        <p:nvSpPr>
          <p:cNvPr id="9" name="TextBox 8"/>
          <p:cNvSpPr txBox="1"/>
          <p:nvPr/>
        </p:nvSpPr>
        <p:spPr>
          <a:xfrm>
            <a:off x="987552" y="2496312"/>
            <a:ext cx="4782312" cy="850392"/>
          </a:xfrm>
          <a:prstGeom prst="rect">
            <a:avLst/>
          </a:prstGeom>
          <a:noFill/>
        </p:spPr>
        <p:txBody>
          <a:bodyPr wrap="square">
            <a:spAutoFit/>
          </a:bodyPr>
          <a:lstStyle/>
          <a:p>
            <a:pPr algn="ctr">
              <a:spcAft>
                <a:spcPts val="600"/>
              </a:spcAft>
            </a:pPr>
            <a:r>
              <a:rPr sz="1500">
                <a:solidFill>
                  <a:srgbClr val="262D38"/>
                </a:solidFill>
                <a:latin typeface="Microsoft YaHei"/>
              </a:rPr>
              <a:t>只给当前任务所需的信息，并按层级分发。</a:t>
            </a:r>
          </a:p>
          <a:p>
            <a:pPr algn="ctr">
              <a:spcAft>
                <a:spcPts val="600"/>
              </a:spcAft>
            </a:pPr>
            <a:r>
              <a:rPr sz="1500">
                <a:solidFill>
                  <a:srgbClr val="262D38"/>
                </a:solidFill>
                <a:latin typeface="Microsoft YaHei"/>
              </a:rPr>
              <a:t>目标是让 Agent 长时间待在 Smart Zone，而不是被信息淹没。</a:t>
            </a:r>
          </a:p>
        </p:txBody>
      </p:sp>
      <p:sp>
        <p:nvSpPr>
          <p:cNvPr id="10" name="Rounded Rectangle 9"/>
          <p:cNvSpPr/>
          <p:nvPr/>
        </p:nvSpPr>
        <p:spPr>
          <a:xfrm>
            <a:off x="6263640" y="1783080"/>
            <a:ext cx="5074920" cy="1691640"/>
          </a:xfrm>
          <a:prstGeom prst="roundRect">
            <a:avLst/>
          </a:prstGeom>
          <a:solidFill>
            <a:srgbClr val="FFFFFF"/>
          </a:solidFill>
          <a:ln w="1524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28232" y="1929384"/>
            <a:ext cx="4745736" cy="54864"/>
          </a:xfrm>
          <a:prstGeom prst="rect">
            <a:avLst/>
          </a:prstGeom>
          <a:solidFill>
            <a:srgbClr val="375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9944" y="2075688"/>
            <a:ext cx="4782312" cy="320040"/>
          </a:xfrm>
          <a:prstGeom prst="rect">
            <a:avLst/>
          </a:prstGeom>
          <a:noFill/>
        </p:spPr>
        <p:txBody>
          <a:bodyPr wrap="square" anchor="t">
            <a:spAutoFit/>
          </a:bodyPr>
          <a:lstStyle/>
          <a:p>
            <a:pPr algn="ctr"/>
            <a:r>
              <a:rPr sz="1700" b="1">
                <a:solidFill>
                  <a:srgbClr val="192A46"/>
                </a:solidFill>
                <a:latin typeface="Microsoft YaHei"/>
              </a:rPr>
              <a:t>支柱二：Agent 专业化</a:t>
            </a:r>
          </a:p>
        </p:txBody>
      </p:sp>
      <p:sp>
        <p:nvSpPr>
          <p:cNvPr id="13" name="TextBox 12"/>
          <p:cNvSpPr txBox="1"/>
          <p:nvPr/>
        </p:nvSpPr>
        <p:spPr>
          <a:xfrm>
            <a:off x="6409944" y="2496312"/>
            <a:ext cx="4782312" cy="850392"/>
          </a:xfrm>
          <a:prstGeom prst="rect">
            <a:avLst/>
          </a:prstGeom>
          <a:noFill/>
        </p:spPr>
        <p:txBody>
          <a:bodyPr wrap="square">
            <a:spAutoFit/>
          </a:bodyPr>
          <a:lstStyle/>
          <a:p>
            <a:pPr algn="ctr">
              <a:spcAft>
                <a:spcPts val="600"/>
              </a:spcAft>
            </a:pPr>
            <a:r>
              <a:rPr sz="1500">
                <a:solidFill>
                  <a:srgbClr val="262D38"/>
                </a:solidFill>
                <a:latin typeface="Microsoft YaHei"/>
              </a:rPr>
              <a:t>让不同 Agent 承担研究、规划、执行、审查、调试等明确职责。</a:t>
            </a:r>
          </a:p>
          <a:p>
            <a:pPr algn="ctr">
              <a:spcAft>
                <a:spcPts val="600"/>
              </a:spcAft>
            </a:pPr>
            <a:r>
              <a:rPr sz="1500">
                <a:solidFill>
                  <a:srgbClr val="262D38"/>
                </a:solidFill>
                <a:latin typeface="Microsoft YaHei"/>
              </a:rPr>
              <a:t>小而专的 Agent 往往优于拥有全部权限的通用 Agent。</a:t>
            </a:r>
          </a:p>
        </p:txBody>
      </p:sp>
      <p:sp>
        <p:nvSpPr>
          <p:cNvPr id="14" name="Rounded Rectangle 13"/>
          <p:cNvSpPr/>
          <p:nvPr/>
        </p:nvSpPr>
        <p:spPr>
          <a:xfrm>
            <a:off x="841248" y="3703320"/>
            <a:ext cx="5074920" cy="1691640"/>
          </a:xfrm>
          <a:prstGeom prst="roundRect">
            <a:avLst/>
          </a:prstGeom>
          <a:solidFill>
            <a:srgbClr val="FFFFFF"/>
          </a:solidFill>
          <a:ln w="1524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05840" y="3849624"/>
            <a:ext cx="4745736" cy="54864"/>
          </a:xfrm>
          <a:prstGeom prst="rect">
            <a:avLst/>
          </a:prstGeom>
          <a:solidFill>
            <a:srgbClr val="BC91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87552" y="3995928"/>
            <a:ext cx="4782312" cy="320040"/>
          </a:xfrm>
          <a:prstGeom prst="rect">
            <a:avLst/>
          </a:prstGeom>
          <a:noFill/>
        </p:spPr>
        <p:txBody>
          <a:bodyPr wrap="square" anchor="t">
            <a:spAutoFit/>
          </a:bodyPr>
          <a:lstStyle/>
          <a:p>
            <a:pPr algn="ctr"/>
            <a:r>
              <a:rPr sz="1700" b="1">
                <a:solidFill>
                  <a:srgbClr val="192A46"/>
                </a:solidFill>
                <a:latin typeface="Microsoft YaHei"/>
              </a:rPr>
              <a:t>支柱三：持久化记忆</a:t>
            </a:r>
          </a:p>
        </p:txBody>
      </p:sp>
      <p:sp>
        <p:nvSpPr>
          <p:cNvPr id="17" name="TextBox 16"/>
          <p:cNvSpPr txBox="1"/>
          <p:nvPr/>
        </p:nvSpPr>
        <p:spPr>
          <a:xfrm>
            <a:off x="987552" y="4416552"/>
            <a:ext cx="4782312" cy="850392"/>
          </a:xfrm>
          <a:prstGeom prst="rect">
            <a:avLst/>
          </a:prstGeom>
          <a:noFill/>
        </p:spPr>
        <p:txBody>
          <a:bodyPr wrap="square">
            <a:spAutoFit/>
          </a:bodyPr>
          <a:lstStyle/>
          <a:p>
            <a:pPr algn="ctr">
              <a:spcAft>
                <a:spcPts val="600"/>
              </a:spcAft>
            </a:pPr>
            <a:r>
              <a:rPr sz="1500">
                <a:solidFill>
                  <a:srgbClr val="262D38"/>
                </a:solidFill>
                <a:latin typeface="Microsoft YaHei"/>
              </a:rPr>
              <a:t>把进度、环境、功能状态写进文件系统，而不是留在会话窗口里。</a:t>
            </a:r>
          </a:p>
          <a:p>
            <a:pPr algn="ctr">
              <a:spcAft>
                <a:spcPts val="600"/>
              </a:spcAft>
            </a:pPr>
            <a:r>
              <a:rPr sz="1500">
                <a:solidFill>
                  <a:srgbClr val="262D38"/>
                </a:solidFill>
                <a:latin typeface="Microsoft YaHei"/>
              </a:rPr>
              <a:t>让新会话能快速恢复上下文，而不是从零开始。</a:t>
            </a:r>
          </a:p>
        </p:txBody>
      </p:sp>
      <p:sp>
        <p:nvSpPr>
          <p:cNvPr id="18" name="Rounded Rectangle 17"/>
          <p:cNvSpPr/>
          <p:nvPr/>
        </p:nvSpPr>
        <p:spPr>
          <a:xfrm>
            <a:off x="6263640" y="3703320"/>
            <a:ext cx="5074920" cy="1691640"/>
          </a:xfrm>
          <a:prstGeom prst="roundRect">
            <a:avLst/>
          </a:prstGeom>
          <a:solidFill>
            <a:srgbClr val="FFFFFF"/>
          </a:solidFill>
          <a:ln w="1524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28232" y="3849624"/>
            <a:ext cx="4745736" cy="54864"/>
          </a:xfrm>
          <a:prstGeom prst="rect">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9944" y="3995928"/>
            <a:ext cx="4782312" cy="320040"/>
          </a:xfrm>
          <a:prstGeom prst="rect">
            <a:avLst/>
          </a:prstGeom>
          <a:noFill/>
        </p:spPr>
        <p:txBody>
          <a:bodyPr wrap="square" anchor="t">
            <a:spAutoFit/>
          </a:bodyPr>
          <a:lstStyle/>
          <a:p>
            <a:pPr algn="ctr"/>
            <a:r>
              <a:rPr sz="1700" b="1">
                <a:solidFill>
                  <a:srgbClr val="192A46"/>
                </a:solidFill>
                <a:latin typeface="Microsoft YaHei"/>
              </a:rPr>
              <a:t>支柱四：结构化执行</a:t>
            </a:r>
          </a:p>
        </p:txBody>
      </p:sp>
      <p:sp>
        <p:nvSpPr>
          <p:cNvPr id="21" name="TextBox 20"/>
          <p:cNvSpPr txBox="1"/>
          <p:nvPr/>
        </p:nvSpPr>
        <p:spPr>
          <a:xfrm>
            <a:off x="6409944" y="4416552"/>
            <a:ext cx="4782312" cy="850392"/>
          </a:xfrm>
          <a:prstGeom prst="rect">
            <a:avLst/>
          </a:prstGeom>
          <a:noFill/>
        </p:spPr>
        <p:txBody>
          <a:bodyPr wrap="square">
            <a:spAutoFit/>
          </a:bodyPr>
          <a:lstStyle/>
          <a:p>
            <a:pPr algn="ctr">
              <a:spcAft>
                <a:spcPts val="600"/>
              </a:spcAft>
            </a:pPr>
            <a:r>
              <a:rPr sz="1500">
                <a:solidFill>
                  <a:srgbClr val="262D38"/>
                </a:solidFill>
                <a:latin typeface="Microsoft YaHei"/>
              </a:rPr>
              <a:t>固定顺序为理解、规划、执行、验证。</a:t>
            </a:r>
          </a:p>
          <a:p>
            <a:pPr algn="ctr">
              <a:spcAft>
                <a:spcPts val="600"/>
              </a:spcAft>
            </a:pPr>
            <a:r>
              <a:rPr sz="1500">
                <a:solidFill>
                  <a:srgbClr val="262D38"/>
                </a:solidFill>
                <a:latin typeface="Microsoft YaHei"/>
              </a:rPr>
              <a:t>把错误尽量拦截在大规模代码生成之前。</a:t>
            </a:r>
          </a:p>
        </p:txBody>
      </p:sp>
      <p:sp>
        <p:nvSpPr>
          <p:cNvPr id="22" name="TextBox 21"/>
          <p:cNvSpPr txBox="1"/>
          <p:nvPr/>
        </p:nvSpPr>
        <p:spPr>
          <a:xfrm>
            <a:off x="411480" y="6400800"/>
            <a:ext cx="11155680" cy="182880"/>
          </a:xfrm>
          <a:prstGeom prst="rect">
            <a:avLst/>
          </a:prstGeom>
          <a:noFill/>
        </p:spPr>
        <p:txBody>
          <a:bodyPr wrap="none">
            <a:spAutoFit/>
          </a:bodyPr>
          <a:lstStyle/>
          <a:p>
            <a:pPr algn="r"/>
            <a:r>
              <a:rPr sz="900">
                <a:solidFill>
                  <a:srgbClr val="6C788A"/>
                </a:solidFill>
                <a:latin typeface="Aptos"/>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191695" cy="310896"/>
          </a:xfrm>
          <a:prstGeom prst="rect">
            <a:avLst/>
          </a:prstGeom>
          <a:solidFill>
            <a:srgbClr val="19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75488"/>
            <a:ext cx="10698480" cy="228600"/>
          </a:xfrm>
          <a:prstGeom prst="rect">
            <a:avLst/>
          </a:prstGeom>
          <a:noFill/>
        </p:spPr>
        <p:txBody>
          <a:bodyPr wrap="square" anchor="t">
            <a:spAutoFit/>
          </a:bodyPr>
          <a:lstStyle/>
          <a:p>
            <a:pPr algn="ctr"/>
            <a:r>
              <a:rPr sz="1100" b="1">
                <a:solidFill>
                  <a:srgbClr val="197B8A"/>
                </a:solidFill>
                <a:latin typeface="Aptos"/>
              </a:rPr>
              <a:t>PILLARS 1-2</a:t>
            </a:r>
          </a:p>
        </p:txBody>
      </p:sp>
      <p:sp>
        <p:nvSpPr>
          <p:cNvPr id="4" name="TextBox 3"/>
          <p:cNvSpPr txBox="1"/>
          <p:nvPr/>
        </p:nvSpPr>
        <p:spPr>
          <a:xfrm>
            <a:off x="685800" y="749808"/>
            <a:ext cx="10835640" cy="502920"/>
          </a:xfrm>
          <a:prstGeom prst="rect">
            <a:avLst/>
          </a:prstGeom>
          <a:noFill/>
        </p:spPr>
        <p:txBody>
          <a:bodyPr wrap="square" anchor="t">
            <a:spAutoFit/>
          </a:bodyPr>
          <a:lstStyle/>
          <a:p>
            <a:pPr algn="ctr"/>
            <a:r>
              <a:rPr sz="2400" b="1">
                <a:solidFill>
                  <a:srgbClr val="192A46"/>
                </a:solidFill>
                <a:latin typeface="Microsoft YaHei"/>
              </a:rPr>
              <a:t>上下文架构与 Agent 专业化</a:t>
            </a:r>
          </a:p>
        </p:txBody>
      </p:sp>
      <p:sp>
        <p:nvSpPr>
          <p:cNvPr id="5" name="TextBox 4"/>
          <p:cNvSpPr txBox="1"/>
          <p:nvPr/>
        </p:nvSpPr>
        <p:spPr>
          <a:xfrm>
            <a:off x="960120" y="1234440"/>
            <a:ext cx="10287000" cy="411480"/>
          </a:xfrm>
          <a:prstGeom prst="rect">
            <a:avLst/>
          </a:prstGeom>
          <a:noFill/>
        </p:spPr>
        <p:txBody>
          <a:bodyPr wrap="square" anchor="t">
            <a:spAutoFit/>
          </a:bodyPr>
          <a:lstStyle/>
          <a:p>
            <a:pPr algn="ctr"/>
            <a:r>
              <a:rPr sz="1400" b="0">
                <a:solidFill>
                  <a:srgbClr val="6C788A"/>
                </a:solidFill>
                <a:latin typeface="Microsoft YaHei"/>
              </a:rPr>
              <a:t>核心原则是“少而准”和“人尽其责”。</a:t>
            </a:r>
          </a:p>
        </p:txBody>
      </p:sp>
      <p:sp>
        <p:nvSpPr>
          <p:cNvPr id="6" name="Rounded Rectangle 5"/>
          <p:cNvSpPr/>
          <p:nvPr/>
        </p:nvSpPr>
        <p:spPr>
          <a:xfrm>
            <a:off x="658368" y="1783080"/>
            <a:ext cx="5394960" cy="3886200"/>
          </a:xfrm>
          <a:prstGeom prst="roundRect">
            <a:avLst/>
          </a:prstGeom>
          <a:solidFill>
            <a:srgbClr val="FFFFFF"/>
          </a:solidFill>
          <a:ln w="1524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1929384"/>
            <a:ext cx="5065776" cy="54864"/>
          </a:xfrm>
          <a:prstGeom prst="rect">
            <a:avLst/>
          </a:prstGeom>
          <a:solidFill>
            <a:srgbClr val="197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2075688"/>
            <a:ext cx="5102352" cy="320040"/>
          </a:xfrm>
          <a:prstGeom prst="rect">
            <a:avLst/>
          </a:prstGeom>
          <a:noFill/>
        </p:spPr>
        <p:txBody>
          <a:bodyPr wrap="square" anchor="t">
            <a:spAutoFit/>
          </a:bodyPr>
          <a:lstStyle/>
          <a:p>
            <a:pPr algn="ctr"/>
            <a:r>
              <a:rPr sz="1700" b="1">
                <a:solidFill>
                  <a:srgbClr val="192A46"/>
                </a:solidFill>
                <a:latin typeface="Microsoft YaHei"/>
              </a:rPr>
              <a:t>上下文架构</a:t>
            </a:r>
          </a:p>
        </p:txBody>
      </p:sp>
      <p:sp>
        <p:nvSpPr>
          <p:cNvPr id="9" name="TextBox 8"/>
          <p:cNvSpPr txBox="1"/>
          <p:nvPr/>
        </p:nvSpPr>
        <p:spPr>
          <a:xfrm>
            <a:off x="804672" y="2496312"/>
            <a:ext cx="5102352" cy="3044952"/>
          </a:xfrm>
          <a:prstGeom prst="rect">
            <a:avLst/>
          </a:prstGeom>
          <a:noFill/>
        </p:spPr>
        <p:txBody>
          <a:bodyPr wrap="square">
            <a:spAutoFit/>
          </a:bodyPr>
          <a:lstStyle/>
          <a:p>
            <a:pPr algn="ctr">
              <a:spcAft>
                <a:spcPts val="600"/>
              </a:spcAft>
            </a:pPr>
            <a:r>
              <a:rPr sz="1500">
                <a:solidFill>
                  <a:srgbClr val="262D38"/>
                </a:solidFill>
                <a:latin typeface="Microsoft YaHei"/>
              </a:rPr>
              <a:t>Tier 1：会话常驻信息，例如 AGENTS.md、项目结构、基本约束。</a:t>
            </a:r>
          </a:p>
          <a:p>
            <a:pPr algn="ctr">
              <a:spcAft>
                <a:spcPts val="600"/>
              </a:spcAft>
            </a:pPr>
            <a:r>
              <a:rPr sz="1500">
                <a:solidFill>
                  <a:srgbClr val="262D38"/>
                </a:solidFill>
                <a:latin typeface="Microsoft YaHei"/>
              </a:rPr>
              <a:t>Tier 2：按需加载信息，例如某个领域知识、某个子 Agent 的特定上下文。</a:t>
            </a:r>
          </a:p>
          <a:p>
            <a:pPr algn="ctr">
              <a:spcAft>
                <a:spcPts val="600"/>
              </a:spcAft>
            </a:pPr>
            <a:r>
              <a:rPr sz="1500">
                <a:solidFill>
                  <a:srgbClr val="262D38"/>
                </a:solidFill>
                <a:latin typeface="Microsoft YaHei"/>
              </a:rPr>
              <a:t>Tier 3：持久知识库，例如研究文档、规格、历史设计与历史会话沉淀。</a:t>
            </a:r>
          </a:p>
          <a:p>
            <a:pPr algn="ctr">
              <a:spcAft>
                <a:spcPts val="600"/>
              </a:spcAft>
            </a:pPr>
            <a:r>
              <a:rPr sz="1500">
                <a:solidFill>
                  <a:srgbClr val="262D38"/>
                </a:solidFill>
                <a:latin typeface="Microsoft YaHei"/>
              </a:rPr>
              <a:t>经验结论：把全部信息塞进单一大文档会在规模化后失效。</a:t>
            </a:r>
          </a:p>
        </p:txBody>
      </p:sp>
      <p:sp>
        <p:nvSpPr>
          <p:cNvPr id="10" name="Rounded Rectangle 9"/>
          <p:cNvSpPr/>
          <p:nvPr/>
        </p:nvSpPr>
        <p:spPr>
          <a:xfrm>
            <a:off x="6144768" y="1783080"/>
            <a:ext cx="5394960" cy="3886200"/>
          </a:xfrm>
          <a:prstGeom prst="roundRect">
            <a:avLst/>
          </a:prstGeom>
          <a:solidFill>
            <a:srgbClr val="FFFFFF"/>
          </a:solidFill>
          <a:ln w="1524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09360" y="1929384"/>
            <a:ext cx="5065776" cy="54864"/>
          </a:xfrm>
          <a:prstGeom prst="rect">
            <a:avLst/>
          </a:prstGeom>
          <a:solidFill>
            <a:srgbClr val="375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1072" y="2075688"/>
            <a:ext cx="5102352" cy="320040"/>
          </a:xfrm>
          <a:prstGeom prst="rect">
            <a:avLst/>
          </a:prstGeom>
          <a:noFill/>
        </p:spPr>
        <p:txBody>
          <a:bodyPr wrap="square" anchor="t">
            <a:spAutoFit/>
          </a:bodyPr>
          <a:lstStyle/>
          <a:p>
            <a:pPr algn="ctr"/>
            <a:r>
              <a:rPr sz="1700" b="1">
                <a:solidFill>
                  <a:srgbClr val="192A46"/>
                </a:solidFill>
                <a:latin typeface="Microsoft YaHei"/>
              </a:rPr>
              <a:t>专业化分工</a:t>
            </a:r>
          </a:p>
        </p:txBody>
      </p:sp>
      <p:sp>
        <p:nvSpPr>
          <p:cNvPr id="13" name="TextBox 12"/>
          <p:cNvSpPr txBox="1"/>
          <p:nvPr/>
        </p:nvSpPr>
        <p:spPr>
          <a:xfrm>
            <a:off x="6291072" y="2496312"/>
            <a:ext cx="5102352" cy="3044952"/>
          </a:xfrm>
          <a:prstGeom prst="rect">
            <a:avLst/>
          </a:prstGeom>
          <a:noFill/>
        </p:spPr>
        <p:txBody>
          <a:bodyPr wrap="square">
            <a:spAutoFit/>
          </a:bodyPr>
          <a:lstStyle/>
          <a:p>
            <a:pPr algn="ctr">
              <a:spcAft>
                <a:spcPts val="600"/>
              </a:spcAft>
            </a:pPr>
            <a:r>
              <a:rPr sz="1500">
                <a:solidFill>
                  <a:srgbClr val="262D38"/>
                </a:solidFill>
                <a:latin typeface="Microsoft YaHei"/>
              </a:rPr>
              <a:t>研究 Agent：只读探索代码库和现状。</a:t>
            </a:r>
          </a:p>
          <a:p>
            <a:pPr algn="ctr">
              <a:spcAft>
                <a:spcPts val="600"/>
              </a:spcAft>
            </a:pPr>
            <a:r>
              <a:rPr sz="1500">
                <a:solidFill>
                  <a:srgbClr val="262D38"/>
                </a:solidFill>
                <a:latin typeface="Microsoft YaHei"/>
              </a:rPr>
              <a:t>规划 Agent：把需求拆解成结构化任务和验收条件。</a:t>
            </a:r>
          </a:p>
          <a:p>
            <a:pPr algn="ctr">
              <a:spcAft>
                <a:spcPts val="600"/>
              </a:spcAft>
            </a:pPr>
            <a:r>
              <a:rPr sz="1500">
                <a:solidFill>
                  <a:srgbClr val="262D38"/>
                </a:solidFill>
                <a:latin typeface="Microsoft YaHei"/>
              </a:rPr>
              <a:t>执行 Agent：在限定权限内落地具体改动。</a:t>
            </a:r>
          </a:p>
          <a:p>
            <a:pPr algn="ctr">
              <a:spcAft>
                <a:spcPts val="600"/>
              </a:spcAft>
            </a:pPr>
            <a:r>
              <a:rPr sz="1500">
                <a:solidFill>
                  <a:srgbClr val="262D38"/>
                </a:solidFill>
                <a:latin typeface="Microsoft YaHei"/>
              </a:rPr>
              <a:t>审查 / 调试 / 清理 Agent：发现问题、修问题、清理熵。</a:t>
            </a:r>
          </a:p>
        </p:txBody>
      </p:sp>
      <p:sp>
        <p:nvSpPr>
          <p:cNvPr id="14" name="TextBox 13"/>
          <p:cNvSpPr txBox="1"/>
          <p:nvPr/>
        </p:nvSpPr>
        <p:spPr>
          <a:xfrm>
            <a:off x="1097280" y="5806440"/>
            <a:ext cx="9966960" cy="320040"/>
          </a:xfrm>
          <a:prstGeom prst="rect">
            <a:avLst/>
          </a:prstGeom>
          <a:noFill/>
        </p:spPr>
        <p:txBody>
          <a:bodyPr wrap="square" anchor="t">
            <a:spAutoFit/>
          </a:bodyPr>
          <a:lstStyle/>
          <a:p>
            <a:pPr algn="ctr"/>
            <a:r>
              <a:rPr sz="1500" b="0">
                <a:solidFill>
                  <a:srgbClr val="6C788A"/>
                </a:solidFill>
                <a:latin typeface="Microsoft YaHei"/>
              </a:rPr>
              <a:t>专业化本身也是上下文管理策略：每个 Agent 携带更少无关信息，因此更容易保持稳定。</a:t>
            </a:r>
          </a:p>
        </p:txBody>
      </p:sp>
      <p:sp>
        <p:nvSpPr>
          <p:cNvPr id="15" name="TextBox 14"/>
          <p:cNvSpPr txBox="1"/>
          <p:nvPr/>
        </p:nvSpPr>
        <p:spPr>
          <a:xfrm>
            <a:off x="411480" y="6400800"/>
            <a:ext cx="11155680" cy="182880"/>
          </a:xfrm>
          <a:prstGeom prst="rect">
            <a:avLst/>
          </a:prstGeom>
          <a:noFill/>
        </p:spPr>
        <p:txBody>
          <a:bodyPr wrap="none">
            <a:spAutoFit/>
          </a:bodyPr>
          <a:lstStyle/>
          <a:p>
            <a:pPr algn="r"/>
            <a:r>
              <a:rPr sz="900">
                <a:solidFill>
                  <a:srgbClr val="6C788A"/>
                </a:solidFill>
                <a:latin typeface="Aptos"/>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191695" cy="310896"/>
          </a:xfrm>
          <a:prstGeom prst="rect">
            <a:avLst/>
          </a:prstGeom>
          <a:solidFill>
            <a:srgbClr val="19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75488"/>
            <a:ext cx="10698480" cy="228600"/>
          </a:xfrm>
          <a:prstGeom prst="rect">
            <a:avLst/>
          </a:prstGeom>
          <a:noFill/>
        </p:spPr>
        <p:txBody>
          <a:bodyPr wrap="square" anchor="t">
            <a:spAutoFit/>
          </a:bodyPr>
          <a:lstStyle/>
          <a:p>
            <a:pPr algn="ctr"/>
            <a:r>
              <a:rPr sz="1100" b="1">
                <a:solidFill>
                  <a:srgbClr val="197B8A"/>
                </a:solidFill>
                <a:latin typeface="Aptos"/>
              </a:rPr>
              <a:t>PILLARS 3-4</a:t>
            </a:r>
          </a:p>
        </p:txBody>
      </p:sp>
      <p:sp>
        <p:nvSpPr>
          <p:cNvPr id="4" name="TextBox 3"/>
          <p:cNvSpPr txBox="1"/>
          <p:nvPr/>
        </p:nvSpPr>
        <p:spPr>
          <a:xfrm>
            <a:off x="685800" y="749808"/>
            <a:ext cx="10835640" cy="502920"/>
          </a:xfrm>
          <a:prstGeom prst="rect">
            <a:avLst/>
          </a:prstGeom>
          <a:noFill/>
        </p:spPr>
        <p:txBody>
          <a:bodyPr wrap="square" anchor="t">
            <a:spAutoFit/>
          </a:bodyPr>
          <a:lstStyle/>
          <a:p>
            <a:pPr algn="ctr"/>
            <a:r>
              <a:rPr sz="2400" b="1">
                <a:solidFill>
                  <a:srgbClr val="192A46"/>
                </a:solidFill>
                <a:latin typeface="Microsoft YaHei"/>
              </a:rPr>
              <a:t>持久化记忆与结构化执行</a:t>
            </a:r>
          </a:p>
        </p:txBody>
      </p:sp>
      <p:sp>
        <p:nvSpPr>
          <p:cNvPr id="5" name="TextBox 4"/>
          <p:cNvSpPr txBox="1"/>
          <p:nvPr/>
        </p:nvSpPr>
        <p:spPr>
          <a:xfrm>
            <a:off x="960120" y="1234440"/>
            <a:ext cx="10287000" cy="411480"/>
          </a:xfrm>
          <a:prstGeom prst="rect">
            <a:avLst/>
          </a:prstGeom>
          <a:noFill/>
        </p:spPr>
        <p:txBody>
          <a:bodyPr wrap="square" anchor="t">
            <a:spAutoFit/>
          </a:bodyPr>
          <a:lstStyle/>
          <a:p>
            <a:pPr algn="ctr"/>
            <a:r>
              <a:rPr sz="1400" b="0">
                <a:solidFill>
                  <a:srgbClr val="6C788A"/>
                </a:solidFill>
                <a:latin typeface="Microsoft YaHei"/>
              </a:rPr>
              <a:t>把一次性会话能力转成可连续、可验证的工程过程。</a:t>
            </a:r>
          </a:p>
        </p:txBody>
      </p:sp>
      <p:sp>
        <p:nvSpPr>
          <p:cNvPr id="6" name="Rounded Rectangle 5"/>
          <p:cNvSpPr/>
          <p:nvPr/>
        </p:nvSpPr>
        <p:spPr>
          <a:xfrm>
            <a:off x="658368" y="1783080"/>
            <a:ext cx="5394960" cy="3886200"/>
          </a:xfrm>
          <a:prstGeom prst="roundRect">
            <a:avLst/>
          </a:prstGeom>
          <a:solidFill>
            <a:srgbClr val="FFFFFF"/>
          </a:solidFill>
          <a:ln w="1524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1929384"/>
            <a:ext cx="5065776" cy="54864"/>
          </a:xfrm>
          <a:prstGeom prst="rect">
            <a:avLst/>
          </a:prstGeom>
          <a:solidFill>
            <a:srgbClr val="BC91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2075688"/>
            <a:ext cx="5102352" cy="320040"/>
          </a:xfrm>
          <a:prstGeom prst="rect">
            <a:avLst/>
          </a:prstGeom>
          <a:noFill/>
        </p:spPr>
        <p:txBody>
          <a:bodyPr wrap="square" anchor="t">
            <a:spAutoFit/>
          </a:bodyPr>
          <a:lstStyle/>
          <a:p>
            <a:pPr algn="ctr"/>
            <a:r>
              <a:rPr sz="1700" b="1">
                <a:solidFill>
                  <a:srgbClr val="192A46"/>
                </a:solidFill>
                <a:latin typeface="Microsoft YaHei"/>
              </a:rPr>
              <a:t>持久化记忆</a:t>
            </a:r>
          </a:p>
        </p:txBody>
      </p:sp>
      <p:sp>
        <p:nvSpPr>
          <p:cNvPr id="9" name="TextBox 8"/>
          <p:cNvSpPr txBox="1"/>
          <p:nvPr/>
        </p:nvSpPr>
        <p:spPr>
          <a:xfrm>
            <a:off x="804672" y="2496312"/>
            <a:ext cx="5102352" cy="3044952"/>
          </a:xfrm>
          <a:prstGeom prst="rect">
            <a:avLst/>
          </a:prstGeom>
          <a:noFill/>
        </p:spPr>
        <p:txBody>
          <a:bodyPr wrap="square">
            <a:spAutoFit/>
          </a:bodyPr>
          <a:lstStyle/>
          <a:p>
            <a:pPr algn="ctr">
              <a:spcAft>
                <a:spcPts val="600"/>
              </a:spcAft>
            </a:pPr>
            <a:r>
              <a:rPr sz="1500">
                <a:solidFill>
                  <a:srgbClr val="262D38"/>
                </a:solidFill>
                <a:latin typeface="Microsoft YaHei"/>
              </a:rPr>
              <a:t>初始化 Agent 负责建立 init 脚本、进度文件和初始提交。</a:t>
            </a:r>
          </a:p>
          <a:p>
            <a:pPr algn="ctr">
              <a:spcAft>
                <a:spcPts val="600"/>
              </a:spcAft>
            </a:pPr>
            <a:r>
              <a:rPr sz="1500">
                <a:solidFill>
                  <a:srgbClr val="262D38"/>
                </a:solidFill>
                <a:latin typeface="Microsoft YaHei"/>
              </a:rPr>
              <a:t>每次新会话先读取 git log、进度文件、feature 列表，再决定下一步。</a:t>
            </a:r>
          </a:p>
          <a:p>
            <a:pPr algn="ctr">
              <a:spcAft>
                <a:spcPts val="600"/>
              </a:spcAft>
            </a:pPr>
            <a:r>
              <a:rPr sz="1500">
                <a:solidFill>
                  <a:srgbClr val="262D38"/>
                </a:solidFill>
                <a:latin typeface="Microsoft YaHei"/>
              </a:rPr>
              <a:t>进度最好采用结构化格式，例如 JSON，而不是完全自由的描述文本。</a:t>
            </a:r>
          </a:p>
          <a:p>
            <a:pPr algn="ctr">
              <a:spcAft>
                <a:spcPts val="600"/>
              </a:spcAft>
            </a:pPr>
            <a:r>
              <a:rPr sz="1500">
                <a:solidFill>
                  <a:srgbClr val="262D38"/>
                </a:solidFill>
                <a:latin typeface="Microsoft YaHei"/>
              </a:rPr>
              <a:t>关键价值是把项目连续性从上下文窗口迁移到仓库。</a:t>
            </a:r>
          </a:p>
        </p:txBody>
      </p:sp>
      <p:sp>
        <p:nvSpPr>
          <p:cNvPr id="10" name="Rounded Rectangle 9"/>
          <p:cNvSpPr/>
          <p:nvPr/>
        </p:nvSpPr>
        <p:spPr>
          <a:xfrm>
            <a:off x="6144768" y="1783080"/>
            <a:ext cx="5394960" cy="3886200"/>
          </a:xfrm>
          <a:prstGeom prst="roundRect">
            <a:avLst/>
          </a:prstGeom>
          <a:solidFill>
            <a:srgbClr val="FFFFFF"/>
          </a:solidFill>
          <a:ln w="1524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09360" y="1929384"/>
            <a:ext cx="5065776" cy="54864"/>
          </a:xfrm>
          <a:prstGeom prst="rect">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1072" y="2075688"/>
            <a:ext cx="5102352" cy="320040"/>
          </a:xfrm>
          <a:prstGeom prst="rect">
            <a:avLst/>
          </a:prstGeom>
          <a:noFill/>
        </p:spPr>
        <p:txBody>
          <a:bodyPr wrap="square" anchor="t">
            <a:spAutoFit/>
          </a:bodyPr>
          <a:lstStyle/>
          <a:p>
            <a:pPr algn="ctr"/>
            <a:r>
              <a:rPr sz="1700" b="1">
                <a:solidFill>
                  <a:srgbClr val="192A46"/>
                </a:solidFill>
                <a:latin typeface="Microsoft YaHei"/>
              </a:rPr>
              <a:t>结构化执行</a:t>
            </a:r>
          </a:p>
        </p:txBody>
      </p:sp>
      <p:sp>
        <p:nvSpPr>
          <p:cNvPr id="13" name="TextBox 12"/>
          <p:cNvSpPr txBox="1"/>
          <p:nvPr/>
        </p:nvSpPr>
        <p:spPr>
          <a:xfrm>
            <a:off x="6291072" y="2496312"/>
            <a:ext cx="5102352" cy="3044952"/>
          </a:xfrm>
          <a:prstGeom prst="rect">
            <a:avLst/>
          </a:prstGeom>
          <a:noFill/>
        </p:spPr>
        <p:txBody>
          <a:bodyPr wrap="square">
            <a:spAutoFit/>
          </a:bodyPr>
          <a:lstStyle/>
          <a:p>
            <a:pPr algn="ctr">
              <a:spcAft>
                <a:spcPts val="600"/>
              </a:spcAft>
            </a:pPr>
            <a:r>
              <a:rPr sz="1500">
                <a:solidFill>
                  <a:srgbClr val="262D38"/>
                </a:solidFill>
                <a:latin typeface="Microsoft YaHei"/>
              </a:rPr>
              <a:t>固定链路：理解问题、形成计划、执行变更、完成验证。</a:t>
            </a:r>
          </a:p>
          <a:p>
            <a:pPr algn="ctr">
              <a:spcAft>
                <a:spcPts val="600"/>
              </a:spcAft>
            </a:pPr>
            <a:r>
              <a:rPr sz="1500">
                <a:solidFill>
                  <a:srgbClr val="262D38"/>
                </a:solidFill>
                <a:latin typeface="Microsoft YaHei"/>
              </a:rPr>
              <a:t>规划阶段允许人类审阅，执行阶段允许 Agent 高速推进。</a:t>
            </a:r>
          </a:p>
          <a:p>
            <a:pPr algn="ctr">
              <a:spcAft>
                <a:spcPts val="600"/>
              </a:spcAft>
            </a:pPr>
            <a:r>
              <a:rPr sz="1500">
                <a:solidFill>
                  <a:srgbClr val="262D38"/>
                </a:solidFill>
                <a:latin typeface="Microsoft YaHei"/>
              </a:rPr>
              <a:t>验证阶段依靠测试、Linter、CI 与必要的人类审查闭环。</a:t>
            </a:r>
          </a:p>
          <a:p>
            <a:pPr algn="ctr">
              <a:spcAft>
                <a:spcPts val="600"/>
              </a:spcAft>
            </a:pPr>
            <a:r>
              <a:rPr sz="1500">
                <a:solidFill>
                  <a:srgbClr val="262D38"/>
                </a:solidFill>
                <a:latin typeface="Microsoft YaHei"/>
              </a:rPr>
              <a:t>计划错误越早发现，后续返工成本越低。</a:t>
            </a:r>
          </a:p>
        </p:txBody>
      </p:sp>
      <p:sp>
        <p:nvSpPr>
          <p:cNvPr id="14" name="TextBox 13"/>
          <p:cNvSpPr txBox="1"/>
          <p:nvPr/>
        </p:nvSpPr>
        <p:spPr>
          <a:xfrm>
            <a:off x="1097280" y="5806440"/>
            <a:ext cx="9966960" cy="320040"/>
          </a:xfrm>
          <a:prstGeom prst="rect">
            <a:avLst/>
          </a:prstGeom>
          <a:noFill/>
        </p:spPr>
        <p:txBody>
          <a:bodyPr wrap="square" anchor="t">
            <a:spAutoFit/>
          </a:bodyPr>
          <a:lstStyle/>
          <a:p>
            <a:pPr algn="ctr"/>
            <a:r>
              <a:rPr sz="1500" b="0">
                <a:solidFill>
                  <a:srgbClr val="6C788A"/>
                </a:solidFill>
                <a:latin typeface="Microsoft YaHei"/>
              </a:rPr>
              <a:t>一句话概括：不要把上下文窗口当数据库，也不要把代码生成当验证通过。</a:t>
            </a:r>
          </a:p>
        </p:txBody>
      </p:sp>
      <p:sp>
        <p:nvSpPr>
          <p:cNvPr id="15" name="TextBox 14"/>
          <p:cNvSpPr txBox="1"/>
          <p:nvPr/>
        </p:nvSpPr>
        <p:spPr>
          <a:xfrm>
            <a:off x="411480" y="6400800"/>
            <a:ext cx="11155680" cy="182880"/>
          </a:xfrm>
          <a:prstGeom prst="rect">
            <a:avLst/>
          </a:prstGeom>
          <a:noFill/>
        </p:spPr>
        <p:txBody>
          <a:bodyPr wrap="none">
            <a:spAutoFit/>
          </a:bodyPr>
          <a:lstStyle/>
          <a:p>
            <a:pPr algn="r"/>
            <a:r>
              <a:rPr sz="900">
                <a:solidFill>
                  <a:srgbClr val="6C788A"/>
                </a:solidFill>
                <a:latin typeface="Aptos"/>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191695" cy="310896"/>
          </a:xfrm>
          <a:prstGeom prst="rect">
            <a:avLst/>
          </a:prstGeom>
          <a:solidFill>
            <a:srgbClr val="19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75488"/>
            <a:ext cx="10698480" cy="228600"/>
          </a:xfrm>
          <a:prstGeom prst="rect">
            <a:avLst/>
          </a:prstGeom>
          <a:noFill/>
        </p:spPr>
        <p:txBody>
          <a:bodyPr wrap="square" anchor="t">
            <a:spAutoFit/>
          </a:bodyPr>
          <a:lstStyle/>
          <a:p>
            <a:pPr algn="ctr"/>
            <a:r>
              <a:rPr sz="1100" b="1">
                <a:solidFill>
                  <a:srgbClr val="197B8A"/>
                </a:solidFill>
                <a:latin typeface="Aptos"/>
              </a:rPr>
              <a:t>CORE COMPONENTS</a:t>
            </a:r>
          </a:p>
        </p:txBody>
      </p:sp>
      <p:sp>
        <p:nvSpPr>
          <p:cNvPr id="4" name="TextBox 3"/>
          <p:cNvSpPr txBox="1"/>
          <p:nvPr/>
        </p:nvSpPr>
        <p:spPr>
          <a:xfrm>
            <a:off x="685800" y="749808"/>
            <a:ext cx="10835640" cy="502920"/>
          </a:xfrm>
          <a:prstGeom prst="rect">
            <a:avLst/>
          </a:prstGeom>
          <a:noFill/>
        </p:spPr>
        <p:txBody>
          <a:bodyPr wrap="square" anchor="t">
            <a:spAutoFit/>
          </a:bodyPr>
          <a:lstStyle/>
          <a:p>
            <a:pPr algn="ctr"/>
            <a:r>
              <a:rPr sz="2400" b="1">
                <a:solidFill>
                  <a:srgbClr val="192A46"/>
                </a:solidFill>
                <a:latin typeface="Microsoft YaHei"/>
              </a:rPr>
              <a:t>一套成熟 Harness 的关键组件</a:t>
            </a:r>
          </a:p>
        </p:txBody>
      </p:sp>
      <p:sp>
        <p:nvSpPr>
          <p:cNvPr id="5" name="TextBox 4"/>
          <p:cNvSpPr txBox="1"/>
          <p:nvPr/>
        </p:nvSpPr>
        <p:spPr>
          <a:xfrm>
            <a:off x="960120" y="1234440"/>
            <a:ext cx="10287000" cy="411480"/>
          </a:xfrm>
          <a:prstGeom prst="rect">
            <a:avLst/>
          </a:prstGeom>
          <a:noFill/>
        </p:spPr>
        <p:txBody>
          <a:bodyPr wrap="square" anchor="t">
            <a:spAutoFit/>
          </a:bodyPr>
          <a:lstStyle/>
          <a:p>
            <a:pPr algn="ctr"/>
            <a:r>
              <a:rPr sz="1400" b="0">
                <a:solidFill>
                  <a:srgbClr val="6C788A"/>
                </a:solidFill>
                <a:latin typeface="Microsoft YaHei"/>
              </a:rPr>
              <a:t>不是所有组件都要一次建全，但必须知道优先顺序。</a:t>
            </a:r>
          </a:p>
        </p:txBody>
      </p:sp>
      <p:sp>
        <p:nvSpPr>
          <p:cNvPr id="6" name="Rounded Rectangle 5"/>
          <p:cNvSpPr/>
          <p:nvPr/>
        </p:nvSpPr>
        <p:spPr>
          <a:xfrm>
            <a:off x="658368" y="1783080"/>
            <a:ext cx="3566160" cy="4160520"/>
          </a:xfrm>
          <a:prstGeom prst="roundRect">
            <a:avLst/>
          </a:prstGeom>
          <a:solidFill>
            <a:srgbClr val="FFFFFF"/>
          </a:solidFill>
          <a:ln w="1524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1929384"/>
            <a:ext cx="3236976" cy="54864"/>
          </a:xfrm>
          <a:prstGeom prst="rect">
            <a:avLst/>
          </a:prstGeom>
          <a:solidFill>
            <a:srgbClr val="197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2075688"/>
            <a:ext cx="3273552" cy="320040"/>
          </a:xfrm>
          <a:prstGeom prst="rect">
            <a:avLst/>
          </a:prstGeom>
          <a:noFill/>
        </p:spPr>
        <p:txBody>
          <a:bodyPr wrap="square" anchor="t">
            <a:spAutoFit/>
          </a:bodyPr>
          <a:lstStyle/>
          <a:p>
            <a:pPr algn="ctr"/>
            <a:r>
              <a:rPr sz="1700" b="1">
                <a:solidFill>
                  <a:srgbClr val="192A46"/>
                </a:solidFill>
                <a:latin typeface="Microsoft YaHei"/>
              </a:rPr>
              <a:t>P0：基础底座</a:t>
            </a:r>
          </a:p>
        </p:txBody>
      </p:sp>
      <p:sp>
        <p:nvSpPr>
          <p:cNvPr id="9" name="TextBox 8"/>
          <p:cNvSpPr txBox="1"/>
          <p:nvPr/>
        </p:nvSpPr>
        <p:spPr>
          <a:xfrm>
            <a:off x="804672" y="2496312"/>
            <a:ext cx="3273552" cy="3319272"/>
          </a:xfrm>
          <a:prstGeom prst="rect">
            <a:avLst/>
          </a:prstGeom>
          <a:noFill/>
        </p:spPr>
        <p:txBody>
          <a:bodyPr wrap="square">
            <a:spAutoFit/>
          </a:bodyPr>
          <a:lstStyle/>
          <a:p>
            <a:pPr algn="ctr">
              <a:spcAft>
                <a:spcPts val="600"/>
              </a:spcAft>
            </a:pPr>
            <a:r>
              <a:rPr sz="1400">
                <a:solidFill>
                  <a:srgbClr val="262D38"/>
                </a:solidFill>
                <a:latin typeface="Microsoft YaHei"/>
              </a:rPr>
              <a:t>AGENTS.md / CLAUDE.md</a:t>
            </a:r>
          </a:p>
          <a:p>
            <a:pPr algn="ctr">
              <a:spcAft>
                <a:spcPts val="600"/>
              </a:spcAft>
            </a:pPr>
            <a:r>
              <a:rPr sz="1400">
                <a:solidFill>
                  <a:srgbClr val="262D38"/>
                </a:solidFill>
                <a:latin typeface="Microsoft YaHei"/>
              </a:rPr>
              <a:t>自定义 Linter 与结构测试</a:t>
            </a:r>
          </a:p>
          <a:p>
            <a:pPr algn="ctr">
              <a:spcAft>
                <a:spcPts val="600"/>
              </a:spcAft>
            </a:pPr>
            <a:r>
              <a:rPr sz="1400">
                <a:solidFill>
                  <a:srgbClr val="262D38"/>
                </a:solidFill>
                <a:latin typeface="Microsoft YaHei"/>
              </a:rPr>
              <a:t>CI/CD 验证管道</a:t>
            </a:r>
          </a:p>
          <a:p>
            <a:pPr algn="ctr">
              <a:spcAft>
                <a:spcPts val="600"/>
              </a:spcAft>
            </a:pPr>
            <a:r>
              <a:rPr sz="1400">
                <a:solidFill>
                  <a:srgbClr val="262D38"/>
                </a:solidFill>
                <a:latin typeface="Microsoft YaHei"/>
              </a:rPr>
              <a:t>基础进度与功能清单文件</a:t>
            </a:r>
          </a:p>
        </p:txBody>
      </p:sp>
      <p:sp>
        <p:nvSpPr>
          <p:cNvPr id="10" name="Rounded Rectangle 9"/>
          <p:cNvSpPr/>
          <p:nvPr/>
        </p:nvSpPr>
        <p:spPr>
          <a:xfrm>
            <a:off x="4315968" y="1783080"/>
            <a:ext cx="3566160" cy="4160520"/>
          </a:xfrm>
          <a:prstGeom prst="roundRect">
            <a:avLst/>
          </a:prstGeom>
          <a:solidFill>
            <a:srgbClr val="FFFFFF"/>
          </a:solidFill>
          <a:ln w="1524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80560" y="1929384"/>
            <a:ext cx="3236976" cy="54864"/>
          </a:xfrm>
          <a:prstGeom prst="rect">
            <a:avLst/>
          </a:prstGeom>
          <a:solidFill>
            <a:srgbClr val="375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62272" y="2075688"/>
            <a:ext cx="3273552" cy="320040"/>
          </a:xfrm>
          <a:prstGeom prst="rect">
            <a:avLst/>
          </a:prstGeom>
          <a:noFill/>
        </p:spPr>
        <p:txBody>
          <a:bodyPr wrap="square" anchor="t">
            <a:spAutoFit/>
          </a:bodyPr>
          <a:lstStyle/>
          <a:p>
            <a:pPr algn="ctr"/>
            <a:r>
              <a:rPr sz="1700" b="1">
                <a:solidFill>
                  <a:srgbClr val="192A46"/>
                </a:solidFill>
                <a:latin typeface="Microsoft YaHei"/>
              </a:rPr>
              <a:t>P1：验证增强</a:t>
            </a:r>
          </a:p>
        </p:txBody>
      </p:sp>
      <p:sp>
        <p:nvSpPr>
          <p:cNvPr id="13" name="TextBox 12"/>
          <p:cNvSpPr txBox="1"/>
          <p:nvPr/>
        </p:nvSpPr>
        <p:spPr>
          <a:xfrm>
            <a:off x="4462272" y="2496312"/>
            <a:ext cx="3273552" cy="3319272"/>
          </a:xfrm>
          <a:prstGeom prst="rect">
            <a:avLst/>
          </a:prstGeom>
          <a:noFill/>
        </p:spPr>
        <p:txBody>
          <a:bodyPr wrap="square">
            <a:spAutoFit/>
          </a:bodyPr>
          <a:lstStyle/>
          <a:p>
            <a:pPr algn="ctr">
              <a:spcAft>
                <a:spcPts val="600"/>
              </a:spcAft>
            </a:pPr>
            <a:r>
              <a:rPr sz="1400">
                <a:solidFill>
                  <a:srgbClr val="262D38"/>
                </a:solidFill>
                <a:latin typeface="Microsoft YaHei"/>
              </a:rPr>
              <a:t>浏览器自动化，例如 Puppeteer MCP</a:t>
            </a:r>
          </a:p>
          <a:p>
            <a:pPr algn="ctr">
              <a:spcAft>
                <a:spcPts val="600"/>
              </a:spcAft>
            </a:pPr>
            <a:r>
              <a:rPr sz="1400">
                <a:solidFill>
                  <a:srgbClr val="262D38"/>
                </a:solidFill>
                <a:latin typeface="Microsoft YaHei"/>
              </a:rPr>
              <a:t>日志、指标、Trace 的可查询能力</a:t>
            </a:r>
          </a:p>
          <a:p>
            <a:pPr algn="ctr">
              <a:spcAft>
                <a:spcPts val="600"/>
              </a:spcAft>
            </a:pPr>
            <a:r>
              <a:rPr sz="1400">
                <a:solidFill>
                  <a:srgbClr val="262D38"/>
                </a:solidFill>
                <a:latin typeface="Microsoft YaHei"/>
              </a:rPr>
              <a:t>明确的功能完成标准与状态管理</a:t>
            </a:r>
          </a:p>
        </p:txBody>
      </p:sp>
      <p:sp>
        <p:nvSpPr>
          <p:cNvPr id="14" name="Rounded Rectangle 13"/>
          <p:cNvSpPr/>
          <p:nvPr/>
        </p:nvSpPr>
        <p:spPr>
          <a:xfrm>
            <a:off x="7973568" y="1783080"/>
            <a:ext cx="3566160" cy="4160520"/>
          </a:xfrm>
          <a:prstGeom prst="roundRect">
            <a:avLst/>
          </a:prstGeom>
          <a:solidFill>
            <a:srgbClr val="FFFFFF"/>
          </a:solidFill>
          <a:ln w="1524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38160" y="1929384"/>
            <a:ext cx="3236976" cy="54864"/>
          </a:xfrm>
          <a:prstGeom prst="rect">
            <a:avLst/>
          </a:prstGeom>
          <a:solidFill>
            <a:srgbClr val="BC91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19872" y="2075688"/>
            <a:ext cx="3273552" cy="320040"/>
          </a:xfrm>
          <a:prstGeom prst="rect">
            <a:avLst/>
          </a:prstGeom>
          <a:noFill/>
        </p:spPr>
        <p:txBody>
          <a:bodyPr wrap="square" anchor="t">
            <a:spAutoFit/>
          </a:bodyPr>
          <a:lstStyle/>
          <a:p>
            <a:pPr algn="ctr"/>
            <a:r>
              <a:rPr sz="1700" b="1">
                <a:solidFill>
                  <a:srgbClr val="192A46"/>
                </a:solidFill>
                <a:latin typeface="Microsoft YaHei"/>
              </a:rPr>
              <a:t>P2：规模化扩展</a:t>
            </a:r>
          </a:p>
        </p:txBody>
      </p:sp>
      <p:sp>
        <p:nvSpPr>
          <p:cNvPr id="17" name="TextBox 16"/>
          <p:cNvSpPr txBox="1"/>
          <p:nvPr/>
        </p:nvSpPr>
        <p:spPr>
          <a:xfrm>
            <a:off x="8119872" y="2496312"/>
            <a:ext cx="3273552" cy="3319272"/>
          </a:xfrm>
          <a:prstGeom prst="rect">
            <a:avLst/>
          </a:prstGeom>
          <a:noFill/>
        </p:spPr>
        <p:txBody>
          <a:bodyPr wrap="square">
            <a:spAutoFit/>
          </a:bodyPr>
          <a:lstStyle/>
          <a:p>
            <a:pPr algn="ctr">
              <a:spcAft>
                <a:spcPts val="600"/>
              </a:spcAft>
            </a:pPr>
            <a:r>
              <a:rPr sz="1400">
                <a:solidFill>
                  <a:srgbClr val="262D38"/>
                </a:solidFill>
                <a:latin typeface="Microsoft YaHei"/>
              </a:rPr>
              <a:t>专业化子 Agent</a:t>
            </a:r>
          </a:p>
          <a:p>
            <a:pPr algn="ctr">
              <a:spcAft>
                <a:spcPts val="600"/>
              </a:spcAft>
            </a:pPr>
            <a:r>
              <a:rPr sz="1400">
                <a:solidFill>
                  <a:srgbClr val="262D38"/>
                </a:solidFill>
                <a:latin typeface="Microsoft YaHei"/>
              </a:rPr>
              <a:t>熵管理 / 垃圾回收 Agent</a:t>
            </a:r>
          </a:p>
          <a:p>
            <a:pPr algn="ctr">
              <a:spcAft>
                <a:spcPts val="600"/>
              </a:spcAft>
            </a:pPr>
            <a:r>
              <a:rPr sz="1400">
                <a:solidFill>
                  <a:srgbClr val="262D38"/>
                </a:solidFill>
                <a:latin typeface="Microsoft YaHei"/>
              </a:rPr>
              <a:t>MCP 工具平台与外部系统连接</a:t>
            </a:r>
          </a:p>
        </p:txBody>
      </p:sp>
      <p:sp>
        <p:nvSpPr>
          <p:cNvPr id="18" name="TextBox 17"/>
          <p:cNvSpPr txBox="1"/>
          <p:nvPr/>
        </p:nvSpPr>
        <p:spPr>
          <a:xfrm>
            <a:off x="411480" y="6400800"/>
            <a:ext cx="11155680" cy="182880"/>
          </a:xfrm>
          <a:prstGeom prst="rect">
            <a:avLst/>
          </a:prstGeom>
          <a:noFill/>
        </p:spPr>
        <p:txBody>
          <a:bodyPr wrap="none">
            <a:spAutoFit/>
          </a:bodyPr>
          <a:lstStyle/>
          <a:p>
            <a:pPr algn="r"/>
            <a:r>
              <a:rPr sz="900">
                <a:solidFill>
                  <a:srgbClr val="6C788A"/>
                </a:solidFill>
                <a:latin typeface="Aptos"/>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191695" cy="310896"/>
          </a:xfrm>
          <a:prstGeom prst="rect">
            <a:avLst/>
          </a:prstGeom>
          <a:solidFill>
            <a:srgbClr val="19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75488"/>
            <a:ext cx="10698480" cy="228600"/>
          </a:xfrm>
          <a:prstGeom prst="rect">
            <a:avLst/>
          </a:prstGeom>
          <a:noFill/>
        </p:spPr>
        <p:txBody>
          <a:bodyPr wrap="square" anchor="t">
            <a:spAutoFit/>
          </a:bodyPr>
          <a:lstStyle/>
          <a:p>
            <a:pPr algn="ctr"/>
            <a:r>
              <a:rPr sz="1100" b="1">
                <a:solidFill>
                  <a:srgbClr val="197B8A"/>
                </a:solidFill>
                <a:latin typeface="Aptos"/>
              </a:rPr>
              <a:t>CASE STUDY</a:t>
            </a:r>
          </a:p>
        </p:txBody>
      </p:sp>
      <p:sp>
        <p:nvSpPr>
          <p:cNvPr id="4" name="TextBox 3"/>
          <p:cNvSpPr txBox="1"/>
          <p:nvPr/>
        </p:nvSpPr>
        <p:spPr>
          <a:xfrm>
            <a:off x="685800" y="749808"/>
            <a:ext cx="10835640" cy="502920"/>
          </a:xfrm>
          <a:prstGeom prst="rect">
            <a:avLst/>
          </a:prstGeom>
          <a:noFill/>
        </p:spPr>
        <p:txBody>
          <a:bodyPr wrap="square" anchor="t">
            <a:spAutoFit/>
          </a:bodyPr>
          <a:lstStyle/>
          <a:p>
            <a:pPr algn="ctr"/>
            <a:r>
              <a:rPr sz="2400" b="1">
                <a:solidFill>
                  <a:srgbClr val="192A46"/>
                </a:solidFill>
                <a:latin typeface="Microsoft YaHei"/>
              </a:rPr>
              <a:t>OpenAI：百万行代码实验的关键启示</a:t>
            </a:r>
          </a:p>
        </p:txBody>
      </p:sp>
      <p:sp>
        <p:nvSpPr>
          <p:cNvPr id="5" name="TextBox 4"/>
          <p:cNvSpPr txBox="1"/>
          <p:nvPr/>
        </p:nvSpPr>
        <p:spPr>
          <a:xfrm>
            <a:off x="960120" y="1234440"/>
            <a:ext cx="10287000" cy="411480"/>
          </a:xfrm>
          <a:prstGeom prst="rect">
            <a:avLst/>
          </a:prstGeom>
          <a:noFill/>
        </p:spPr>
        <p:txBody>
          <a:bodyPr wrap="square" anchor="t">
            <a:spAutoFit/>
          </a:bodyPr>
          <a:lstStyle/>
          <a:p>
            <a:pPr algn="ctr"/>
            <a:r>
              <a:rPr sz="1400" b="0">
                <a:solidFill>
                  <a:srgbClr val="6C788A"/>
                </a:solidFill>
                <a:latin typeface="Microsoft YaHei"/>
              </a:rPr>
              <a:t>这个案例最能说明 Harness 为什么是工程问题，而不是单纯的模型问题。</a:t>
            </a:r>
          </a:p>
        </p:txBody>
      </p:sp>
      <p:sp>
        <p:nvSpPr>
          <p:cNvPr id="6" name="Rounded Rectangle 5"/>
          <p:cNvSpPr/>
          <p:nvPr/>
        </p:nvSpPr>
        <p:spPr>
          <a:xfrm>
            <a:off x="914400" y="1719072"/>
            <a:ext cx="2011680" cy="1097280"/>
          </a:xfrm>
          <a:prstGeom prst="roundRect">
            <a:avLst/>
          </a:prstGeom>
          <a:solidFill>
            <a:srgbClr val="FFFFFF"/>
          </a:solidFill>
          <a:ln>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37944"/>
            <a:ext cx="2011680" cy="310896"/>
          </a:xfrm>
          <a:prstGeom prst="rect">
            <a:avLst/>
          </a:prstGeom>
          <a:noFill/>
        </p:spPr>
        <p:txBody>
          <a:bodyPr wrap="square" anchor="t">
            <a:spAutoFit/>
          </a:bodyPr>
          <a:lstStyle/>
          <a:p>
            <a:pPr algn="ctr"/>
            <a:r>
              <a:rPr sz="2400" b="1">
                <a:solidFill>
                  <a:srgbClr val="197B8A"/>
                </a:solidFill>
                <a:latin typeface="Aptos"/>
              </a:rPr>
              <a:t>3 人</a:t>
            </a:r>
          </a:p>
        </p:txBody>
      </p:sp>
      <p:sp>
        <p:nvSpPr>
          <p:cNvPr id="8" name="TextBox 7"/>
          <p:cNvSpPr txBox="1"/>
          <p:nvPr/>
        </p:nvSpPr>
        <p:spPr>
          <a:xfrm>
            <a:off x="987552" y="2286000"/>
            <a:ext cx="1865376" cy="438912"/>
          </a:xfrm>
          <a:prstGeom prst="rect">
            <a:avLst/>
          </a:prstGeom>
          <a:noFill/>
        </p:spPr>
        <p:txBody>
          <a:bodyPr wrap="square" anchor="t">
            <a:spAutoFit/>
          </a:bodyPr>
          <a:lstStyle/>
          <a:p>
            <a:pPr algn="ctr"/>
            <a:r>
              <a:rPr sz="1200" b="0">
                <a:solidFill>
                  <a:srgbClr val="6C788A"/>
                </a:solidFill>
                <a:latin typeface="Microsoft YaHei"/>
              </a:rPr>
              <a:t>工程师规模</a:t>
            </a:r>
          </a:p>
        </p:txBody>
      </p:sp>
      <p:sp>
        <p:nvSpPr>
          <p:cNvPr id="9" name="Rounded Rectangle 8"/>
          <p:cNvSpPr/>
          <p:nvPr/>
        </p:nvSpPr>
        <p:spPr>
          <a:xfrm>
            <a:off x="3127248" y="1719072"/>
            <a:ext cx="2011680" cy="1097280"/>
          </a:xfrm>
          <a:prstGeom prst="roundRect">
            <a:avLst/>
          </a:prstGeom>
          <a:solidFill>
            <a:srgbClr val="FFFFFF"/>
          </a:solidFill>
          <a:ln>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27248" y="1837944"/>
            <a:ext cx="2011680" cy="310896"/>
          </a:xfrm>
          <a:prstGeom prst="rect">
            <a:avLst/>
          </a:prstGeom>
          <a:noFill/>
        </p:spPr>
        <p:txBody>
          <a:bodyPr wrap="square" anchor="t">
            <a:spAutoFit/>
          </a:bodyPr>
          <a:lstStyle/>
          <a:p>
            <a:pPr algn="ctr"/>
            <a:r>
              <a:rPr sz="2400" b="1">
                <a:solidFill>
                  <a:srgbClr val="375990"/>
                </a:solidFill>
                <a:latin typeface="Aptos"/>
              </a:rPr>
              <a:t>5 个月</a:t>
            </a:r>
          </a:p>
        </p:txBody>
      </p:sp>
      <p:sp>
        <p:nvSpPr>
          <p:cNvPr id="11" name="TextBox 10"/>
          <p:cNvSpPr txBox="1"/>
          <p:nvPr/>
        </p:nvSpPr>
        <p:spPr>
          <a:xfrm>
            <a:off x="3200400" y="2286000"/>
            <a:ext cx="1865376" cy="438912"/>
          </a:xfrm>
          <a:prstGeom prst="rect">
            <a:avLst/>
          </a:prstGeom>
          <a:noFill/>
        </p:spPr>
        <p:txBody>
          <a:bodyPr wrap="square" anchor="t">
            <a:spAutoFit/>
          </a:bodyPr>
          <a:lstStyle/>
          <a:p>
            <a:pPr algn="ctr"/>
            <a:r>
              <a:rPr sz="1200" b="0">
                <a:solidFill>
                  <a:srgbClr val="6C788A"/>
                </a:solidFill>
                <a:latin typeface="Microsoft YaHei"/>
              </a:rPr>
              <a:t>持续时间</a:t>
            </a:r>
          </a:p>
        </p:txBody>
      </p:sp>
      <p:sp>
        <p:nvSpPr>
          <p:cNvPr id="12" name="Rounded Rectangle 11"/>
          <p:cNvSpPr/>
          <p:nvPr/>
        </p:nvSpPr>
        <p:spPr>
          <a:xfrm>
            <a:off x="5340096" y="1719072"/>
            <a:ext cx="2011680" cy="1097280"/>
          </a:xfrm>
          <a:prstGeom prst="roundRect">
            <a:avLst/>
          </a:prstGeom>
          <a:solidFill>
            <a:srgbClr val="FFFFFF"/>
          </a:solidFill>
          <a:ln>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40096" y="1837944"/>
            <a:ext cx="2011680" cy="310896"/>
          </a:xfrm>
          <a:prstGeom prst="rect">
            <a:avLst/>
          </a:prstGeom>
          <a:noFill/>
        </p:spPr>
        <p:txBody>
          <a:bodyPr wrap="square" anchor="t">
            <a:spAutoFit/>
          </a:bodyPr>
          <a:lstStyle/>
          <a:p>
            <a:pPr algn="ctr"/>
            <a:r>
              <a:rPr sz="2400" b="1">
                <a:solidFill>
                  <a:srgbClr val="BC9142"/>
                </a:solidFill>
                <a:latin typeface="Aptos"/>
              </a:rPr>
              <a:t>约 100 万行</a:t>
            </a:r>
          </a:p>
        </p:txBody>
      </p:sp>
      <p:sp>
        <p:nvSpPr>
          <p:cNvPr id="14" name="TextBox 13"/>
          <p:cNvSpPr txBox="1"/>
          <p:nvPr/>
        </p:nvSpPr>
        <p:spPr>
          <a:xfrm>
            <a:off x="5413248" y="2286000"/>
            <a:ext cx="1865376" cy="438912"/>
          </a:xfrm>
          <a:prstGeom prst="rect">
            <a:avLst/>
          </a:prstGeom>
          <a:noFill/>
        </p:spPr>
        <p:txBody>
          <a:bodyPr wrap="square" anchor="t">
            <a:spAutoFit/>
          </a:bodyPr>
          <a:lstStyle/>
          <a:p>
            <a:pPr algn="ctr"/>
            <a:r>
              <a:rPr sz="1200" b="0">
                <a:solidFill>
                  <a:srgbClr val="6C788A"/>
                </a:solidFill>
                <a:latin typeface="Microsoft YaHei"/>
              </a:rPr>
              <a:t>代码规模</a:t>
            </a:r>
          </a:p>
        </p:txBody>
      </p:sp>
      <p:sp>
        <p:nvSpPr>
          <p:cNvPr id="15" name="Rounded Rectangle 14"/>
          <p:cNvSpPr/>
          <p:nvPr/>
        </p:nvSpPr>
        <p:spPr>
          <a:xfrm>
            <a:off x="7552944" y="1719072"/>
            <a:ext cx="2011680" cy="1097280"/>
          </a:xfrm>
          <a:prstGeom prst="roundRect">
            <a:avLst/>
          </a:prstGeom>
          <a:solidFill>
            <a:srgbClr val="FFFFFF"/>
          </a:solidFill>
          <a:ln>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52944" y="1837944"/>
            <a:ext cx="2011680" cy="310896"/>
          </a:xfrm>
          <a:prstGeom prst="rect">
            <a:avLst/>
          </a:prstGeom>
          <a:noFill/>
        </p:spPr>
        <p:txBody>
          <a:bodyPr wrap="square" anchor="t">
            <a:spAutoFit/>
          </a:bodyPr>
          <a:lstStyle/>
          <a:p>
            <a:pPr algn="ctr"/>
            <a:r>
              <a:rPr sz="2400" b="1">
                <a:solidFill>
                  <a:srgbClr val="4A7C59"/>
                </a:solidFill>
                <a:latin typeface="Aptos"/>
              </a:rPr>
              <a:t>约 1500 PR</a:t>
            </a:r>
          </a:p>
        </p:txBody>
      </p:sp>
      <p:sp>
        <p:nvSpPr>
          <p:cNvPr id="17" name="TextBox 16"/>
          <p:cNvSpPr txBox="1"/>
          <p:nvPr/>
        </p:nvSpPr>
        <p:spPr>
          <a:xfrm>
            <a:off x="7626096" y="2286000"/>
            <a:ext cx="1865376" cy="438912"/>
          </a:xfrm>
          <a:prstGeom prst="rect">
            <a:avLst/>
          </a:prstGeom>
          <a:noFill/>
        </p:spPr>
        <p:txBody>
          <a:bodyPr wrap="square" anchor="t">
            <a:spAutoFit/>
          </a:bodyPr>
          <a:lstStyle/>
          <a:p>
            <a:pPr algn="ctr"/>
            <a:r>
              <a:rPr sz="1200" b="0">
                <a:solidFill>
                  <a:srgbClr val="6C788A"/>
                </a:solidFill>
                <a:latin typeface="Microsoft YaHei"/>
              </a:rPr>
              <a:t>合并请求数量</a:t>
            </a:r>
          </a:p>
        </p:txBody>
      </p:sp>
      <p:sp>
        <p:nvSpPr>
          <p:cNvPr id="18" name="Rounded Rectangle 17"/>
          <p:cNvSpPr/>
          <p:nvPr/>
        </p:nvSpPr>
        <p:spPr>
          <a:xfrm>
            <a:off x="9765792" y="1719072"/>
            <a:ext cx="1554480" cy="1097280"/>
          </a:xfrm>
          <a:prstGeom prst="roundRect">
            <a:avLst/>
          </a:prstGeom>
          <a:solidFill>
            <a:srgbClr val="FFFFFF"/>
          </a:solidFill>
          <a:ln>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765792" y="1837944"/>
            <a:ext cx="1554480" cy="310896"/>
          </a:xfrm>
          <a:prstGeom prst="rect">
            <a:avLst/>
          </a:prstGeom>
          <a:noFill/>
        </p:spPr>
        <p:txBody>
          <a:bodyPr wrap="square" anchor="t">
            <a:spAutoFit/>
          </a:bodyPr>
          <a:lstStyle/>
          <a:p>
            <a:pPr algn="ctr"/>
            <a:r>
              <a:rPr sz="2400" b="1">
                <a:solidFill>
                  <a:srgbClr val="9C4943"/>
                </a:solidFill>
                <a:latin typeface="Aptos"/>
              </a:rPr>
              <a:t>0 行</a:t>
            </a:r>
          </a:p>
        </p:txBody>
      </p:sp>
      <p:sp>
        <p:nvSpPr>
          <p:cNvPr id="20" name="TextBox 19"/>
          <p:cNvSpPr txBox="1"/>
          <p:nvPr/>
        </p:nvSpPr>
        <p:spPr>
          <a:xfrm>
            <a:off x="9838944" y="2286000"/>
            <a:ext cx="1408176" cy="438912"/>
          </a:xfrm>
          <a:prstGeom prst="rect">
            <a:avLst/>
          </a:prstGeom>
          <a:noFill/>
        </p:spPr>
        <p:txBody>
          <a:bodyPr wrap="square" anchor="t">
            <a:spAutoFit/>
          </a:bodyPr>
          <a:lstStyle/>
          <a:p>
            <a:pPr algn="ctr"/>
            <a:r>
              <a:rPr sz="1200" b="0">
                <a:solidFill>
                  <a:srgbClr val="6C788A"/>
                </a:solidFill>
                <a:latin typeface="Microsoft YaHei"/>
              </a:rPr>
              <a:t>手写代码</a:t>
            </a:r>
          </a:p>
        </p:txBody>
      </p:sp>
      <p:sp>
        <p:nvSpPr>
          <p:cNvPr id="21" name="Rounded Rectangle 20"/>
          <p:cNvSpPr/>
          <p:nvPr/>
        </p:nvSpPr>
        <p:spPr>
          <a:xfrm>
            <a:off x="868680" y="3154680"/>
            <a:ext cx="10469880" cy="2514600"/>
          </a:xfrm>
          <a:prstGeom prst="roundRect">
            <a:avLst/>
          </a:prstGeom>
          <a:solidFill>
            <a:srgbClr val="FFFFFF"/>
          </a:solidFill>
          <a:ln w="1524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33272" y="3300984"/>
            <a:ext cx="10140696" cy="54864"/>
          </a:xfrm>
          <a:prstGeom prst="rect">
            <a:avLst/>
          </a:prstGeom>
          <a:solidFill>
            <a:srgbClr val="9C49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14984" y="3447288"/>
            <a:ext cx="10177272" cy="320040"/>
          </a:xfrm>
          <a:prstGeom prst="rect">
            <a:avLst/>
          </a:prstGeom>
          <a:noFill/>
        </p:spPr>
        <p:txBody>
          <a:bodyPr wrap="square" anchor="t">
            <a:spAutoFit/>
          </a:bodyPr>
          <a:lstStyle/>
          <a:p>
            <a:pPr algn="ctr"/>
            <a:r>
              <a:rPr sz="1700" b="1">
                <a:solidFill>
                  <a:srgbClr val="192A46"/>
                </a:solidFill>
                <a:latin typeface="Microsoft YaHei"/>
              </a:rPr>
              <a:t>OpenAI 案例最值得保留的五条经验</a:t>
            </a:r>
          </a:p>
        </p:txBody>
      </p:sp>
      <p:sp>
        <p:nvSpPr>
          <p:cNvPr id="24" name="TextBox 23"/>
          <p:cNvSpPr txBox="1"/>
          <p:nvPr/>
        </p:nvSpPr>
        <p:spPr>
          <a:xfrm>
            <a:off x="1014984" y="3867912"/>
            <a:ext cx="10177272" cy="1673352"/>
          </a:xfrm>
          <a:prstGeom prst="rect">
            <a:avLst/>
          </a:prstGeom>
          <a:noFill/>
        </p:spPr>
        <p:txBody>
          <a:bodyPr wrap="square">
            <a:spAutoFit/>
          </a:bodyPr>
          <a:lstStyle/>
          <a:p>
            <a:pPr algn="ctr">
              <a:spcAft>
                <a:spcPts val="600"/>
              </a:spcAft>
            </a:pPr>
            <a:r>
              <a:rPr sz="1500">
                <a:solidFill>
                  <a:srgbClr val="262D38"/>
                </a:solidFill>
                <a:latin typeface="Microsoft YaHei"/>
              </a:rPr>
              <a:t>第一，工程师工作重心从“写代码”转向“设计 Agent 的运行环境”。</a:t>
            </a:r>
          </a:p>
          <a:p>
            <a:pPr algn="ctr">
              <a:spcAft>
                <a:spcPts val="600"/>
              </a:spcAft>
            </a:pPr>
            <a:r>
              <a:rPr sz="1500">
                <a:solidFill>
                  <a:srgbClr val="262D38"/>
                </a:solidFill>
                <a:latin typeface="Microsoft YaHei"/>
              </a:rPr>
              <a:t>第二，架构约束必须机械化执行，不能只写在文档里。</a:t>
            </a:r>
          </a:p>
          <a:p>
            <a:pPr algn="ctr">
              <a:spcAft>
                <a:spcPts val="600"/>
              </a:spcAft>
            </a:pPr>
            <a:r>
              <a:rPr sz="1500">
                <a:solidFill>
                  <a:srgbClr val="262D38"/>
                </a:solidFill>
                <a:latin typeface="Microsoft YaHei"/>
              </a:rPr>
              <a:t>第三，代码仓库必须成为唯一事实源，避免知识散落在聊天工具和文档平台。</a:t>
            </a:r>
          </a:p>
          <a:p>
            <a:pPr algn="ctr">
              <a:spcAft>
                <a:spcPts val="600"/>
              </a:spcAft>
            </a:pPr>
            <a:r>
              <a:rPr sz="1500">
                <a:solidFill>
                  <a:srgbClr val="262D38"/>
                </a:solidFill>
                <a:latin typeface="Microsoft YaHei"/>
              </a:rPr>
              <a:t>第四，可观测性要直接连接到 Agent，让它能读取日志、指标、DOM 快照与截图。</a:t>
            </a:r>
          </a:p>
          <a:p>
            <a:pPr algn="ctr">
              <a:spcAft>
                <a:spcPts val="600"/>
              </a:spcAft>
            </a:pPr>
            <a:r>
              <a:rPr sz="1500">
                <a:solidFill>
                  <a:srgbClr val="262D38"/>
                </a:solidFill>
                <a:latin typeface="Microsoft YaHei"/>
              </a:rPr>
              <a:t>第五，需要专门机制定期清理 AI Slop，也就是持续增长的低质量代码熵。</a:t>
            </a:r>
          </a:p>
        </p:txBody>
      </p:sp>
      <p:sp>
        <p:nvSpPr>
          <p:cNvPr id="25" name="TextBox 24"/>
          <p:cNvSpPr txBox="1"/>
          <p:nvPr/>
        </p:nvSpPr>
        <p:spPr>
          <a:xfrm>
            <a:off x="411480" y="6400800"/>
            <a:ext cx="11155680" cy="182880"/>
          </a:xfrm>
          <a:prstGeom prst="rect">
            <a:avLst/>
          </a:prstGeom>
          <a:noFill/>
        </p:spPr>
        <p:txBody>
          <a:bodyPr wrap="none">
            <a:spAutoFit/>
          </a:bodyPr>
          <a:lstStyle/>
          <a:p>
            <a:pPr algn="r"/>
            <a:r>
              <a:rPr sz="900">
                <a:solidFill>
                  <a:srgbClr val="6C788A"/>
                </a:solidFill>
                <a:latin typeface="Aptos"/>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191695" cy="310896"/>
          </a:xfrm>
          <a:prstGeom prst="rect">
            <a:avLst/>
          </a:prstGeom>
          <a:solidFill>
            <a:srgbClr val="19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75488"/>
            <a:ext cx="10698480" cy="228600"/>
          </a:xfrm>
          <a:prstGeom prst="rect">
            <a:avLst/>
          </a:prstGeom>
          <a:noFill/>
        </p:spPr>
        <p:txBody>
          <a:bodyPr wrap="square" anchor="t">
            <a:spAutoFit/>
          </a:bodyPr>
          <a:lstStyle/>
          <a:p>
            <a:pPr algn="ctr"/>
            <a:r>
              <a:rPr sz="1100" b="1">
                <a:solidFill>
                  <a:srgbClr val="197B8A"/>
                </a:solidFill>
                <a:latin typeface="Aptos"/>
              </a:rPr>
              <a:t>CASE STUDY</a:t>
            </a:r>
          </a:p>
        </p:txBody>
      </p:sp>
      <p:sp>
        <p:nvSpPr>
          <p:cNvPr id="4" name="TextBox 3"/>
          <p:cNvSpPr txBox="1"/>
          <p:nvPr/>
        </p:nvSpPr>
        <p:spPr>
          <a:xfrm>
            <a:off x="685800" y="749808"/>
            <a:ext cx="10835640" cy="502920"/>
          </a:xfrm>
          <a:prstGeom prst="rect">
            <a:avLst/>
          </a:prstGeom>
          <a:noFill/>
        </p:spPr>
        <p:txBody>
          <a:bodyPr wrap="square" anchor="t">
            <a:spAutoFit/>
          </a:bodyPr>
          <a:lstStyle/>
          <a:p>
            <a:pPr algn="ctr"/>
            <a:r>
              <a:rPr sz="2400" b="1">
                <a:solidFill>
                  <a:srgbClr val="192A46"/>
                </a:solidFill>
                <a:latin typeface="Microsoft YaHei"/>
              </a:rPr>
              <a:t>Anthropic、Stripe 与 Hashimoto 的补充视角</a:t>
            </a:r>
          </a:p>
        </p:txBody>
      </p:sp>
      <p:sp>
        <p:nvSpPr>
          <p:cNvPr id="5" name="TextBox 4"/>
          <p:cNvSpPr txBox="1"/>
          <p:nvPr/>
        </p:nvSpPr>
        <p:spPr>
          <a:xfrm>
            <a:off x="960120" y="1234440"/>
            <a:ext cx="10287000" cy="411480"/>
          </a:xfrm>
          <a:prstGeom prst="rect">
            <a:avLst/>
          </a:prstGeom>
          <a:noFill/>
        </p:spPr>
        <p:txBody>
          <a:bodyPr wrap="square" anchor="t">
            <a:spAutoFit/>
          </a:bodyPr>
          <a:lstStyle/>
          <a:p>
            <a:pPr algn="ctr"/>
            <a:r>
              <a:rPr sz="1400" b="0">
                <a:solidFill>
                  <a:srgbClr val="6C788A"/>
                </a:solidFill>
                <a:latin typeface="Microsoft YaHei"/>
              </a:rPr>
              <a:t>不同团队从不同问题切入，但收敛到相似方法。</a:t>
            </a:r>
          </a:p>
        </p:txBody>
      </p:sp>
      <p:sp>
        <p:nvSpPr>
          <p:cNvPr id="6" name="Rounded Rectangle 5"/>
          <p:cNvSpPr/>
          <p:nvPr/>
        </p:nvSpPr>
        <p:spPr>
          <a:xfrm>
            <a:off x="658368" y="1783080"/>
            <a:ext cx="3566160" cy="4023360"/>
          </a:xfrm>
          <a:prstGeom prst="roundRect">
            <a:avLst/>
          </a:prstGeom>
          <a:solidFill>
            <a:srgbClr val="FFFFFF"/>
          </a:solidFill>
          <a:ln w="1524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1929384"/>
            <a:ext cx="3236976" cy="54864"/>
          </a:xfrm>
          <a:prstGeom prst="rect">
            <a:avLst/>
          </a:prstGeom>
          <a:solidFill>
            <a:srgbClr val="197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2075688"/>
            <a:ext cx="3273552" cy="320040"/>
          </a:xfrm>
          <a:prstGeom prst="rect">
            <a:avLst/>
          </a:prstGeom>
          <a:noFill/>
        </p:spPr>
        <p:txBody>
          <a:bodyPr wrap="square" anchor="t">
            <a:spAutoFit/>
          </a:bodyPr>
          <a:lstStyle/>
          <a:p>
            <a:pPr algn="ctr"/>
            <a:r>
              <a:rPr sz="1700" b="1">
                <a:solidFill>
                  <a:srgbClr val="192A46"/>
                </a:solidFill>
                <a:latin typeface="Microsoft YaHei"/>
              </a:rPr>
              <a:t>Anthropic / Carlini</a:t>
            </a:r>
          </a:p>
        </p:txBody>
      </p:sp>
      <p:sp>
        <p:nvSpPr>
          <p:cNvPr id="9" name="TextBox 8"/>
          <p:cNvSpPr txBox="1"/>
          <p:nvPr/>
        </p:nvSpPr>
        <p:spPr>
          <a:xfrm>
            <a:off x="804672" y="2496312"/>
            <a:ext cx="3273552" cy="3182112"/>
          </a:xfrm>
          <a:prstGeom prst="rect">
            <a:avLst/>
          </a:prstGeom>
          <a:noFill/>
        </p:spPr>
        <p:txBody>
          <a:bodyPr wrap="square">
            <a:spAutoFit/>
          </a:bodyPr>
          <a:lstStyle/>
          <a:p>
            <a:pPr algn="ctr">
              <a:spcAft>
                <a:spcPts val="600"/>
              </a:spcAft>
            </a:pPr>
            <a:r>
              <a:rPr sz="1500">
                <a:solidFill>
                  <a:srgbClr val="262D38"/>
                </a:solidFill>
                <a:latin typeface="Microsoft YaHei"/>
              </a:rPr>
              <a:t>16 个 Agent 构建 C 编译器。</a:t>
            </a:r>
          </a:p>
          <a:p>
            <a:pPr algn="ctr">
              <a:spcAft>
                <a:spcPts val="600"/>
              </a:spcAft>
            </a:pPr>
            <a:r>
              <a:rPr sz="1500">
                <a:solidFill>
                  <a:srgbClr val="262D38"/>
                </a:solidFill>
                <a:latin typeface="Microsoft YaHei"/>
              </a:rPr>
              <a:t>重点解决上下文污染、测试采样、角色专业化和后期回归控制。</a:t>
            </a:r>
          </a:p>
          <a:p>
            <a:pPr algn="ctr">
              <a:spcAft>
                <a:spcPts val="600"/>
              </a:spcAft>
            </a:pPr>
            <a:r>
              <a:rPr sz="1500">
                <a:solidFill>
                  <a:srgbClr val="262D38"/>
                </a:solidFill>
                <a:latin typeface="Microsoft YaHei"/>
              </a:rPr>
              <a:t>核心启示：CI 本身可以成为 Harness。</a:t>
            </a:r>
          </a:p>
        </p:txBody>
      </p:sp>
      <p:sp>
        <p:nvSpPr>
          <p:cNvPr id="10" name="Rounded Rectangle 9"/>
          <p:cNvSpPr/>
          <p:nvPr/>
        </p:nvSpPr>
        <p:spPr>
          <a:xfrm>
            <a:off x="4315968" y="1783080"/>
            <a:ext cx="3566160" cy="4023360"/>
          </a:xfrm>
          <a:prstGeom prst="roundRect">
            <a:avLst/>
          </a:prstGeom>
          <a:solidFill>
            <a:srgbClr val="FFFFFF"/>
          </a:solidFill>
          <a:ln w="1524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80560" y="1929384"/>
            <a:ext cx="3236976" cy="54864"/>
          </a:xfrm>
          <a:prstGeom prst="rect">
            <a:avLst/>
          </a:prstGeom>
          <a:solidFill>
            <a:srgbClr val="375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62272" y="2075688"/>
            <a:ext cx="3273552" cy="320040"/>
          </a:xfrm>
          <a:prstGeom prst="rect">
            <a:avLst/>
          </a:prstGeom>
          <a:noFill/>
        </p:spPr>
        <p:txBody>
          <a:bodyPr wrap="square" anchor="t">
            <a:spAutoFit/>
          </a:bodyPr>
          <a:lstStyle/>
          <a:p>
            <a:pPr algn="ctr"/>
            <a:r>
              <a:rPr sz="1700" b="1">
                <a:solidFill>
                  <a:srgbClr val="192A46"/>
                </a:solidFill>
                <a:latin typeface="Microsoft YaHei"/>
              </a:rPr>
              <a:t>Stripe Minions</a:t>
            </a:r>
          </a:p>
        </p:txBody>
      </p:sp>
      <p:sp>
        <p:nvSpPr>
          <p:cNvPr id="13" name="TextBox 12"/>
          <p:cNvSpPr txBox="1"/>
          <p:nvPr/>
        </p:nvSpPr>
        <p:spPr>
          <a:xfrm>
            <a:off x="4462272" y="2496312"/>
            <a:ext cx="3273552" cy="3182112"/>
          </a:xfrm>
          <a:prstGeom prst="rect">
            <a:avLst/>
          </a:prstGeom>
          <a:noFill/>
        </p:spPr>
        <p:txBody>
          <a:bodyPr wrap="square">
            <a:spAutoFit/>
          </a:bodyPr>
          <a:lstStyle/>
          <a:p>
            <a:pPr algn="ctr">
              <a:spcAft>
                <a:spcPts val="600"/>
              </a:spcAft>
            </a:pPr>
            <a:r>
              <a:rPr sz="1500">
                <a:solidFill>
                  <a:srgbClr val="262D38"/>
                </a:solidFill>
                <a:latin typeface="Microsoft YaHei"/>
              </a:rPr>
              <a:t>开发者在 Slack 发任务，Agent 自动写代码、跑 CI、提 PR。</a:t>
            </a:r>
          </a:p>
          <a:p>
            <a:pPr algn="ctr">
              <a:spcAft>
                <a:spcPts val="600"/>
              </a:spcAft>
            </a:pPr>
            <a:r>
              <a:rPr sz="1500">
                <a:solidFill>
                  <a:srgbClr val="262D38"/>
                </a:solidFill>
                <a:latin typeface="Microsoft YaHei"/>
              </a:rPr>
              <a:t>背后依赖统一工具平台、隔离 Devbox 与成熟验证链路。</a:t>
            </a:r>
          </a:p>
          <a:p>
            <a:pPr algn="ctr">
              <a:spcAft>
                <a:spcPts val="600"/>
              </a:spcAft>
            </a:pPr>
            <a:r>
              <a:rPr sz="1500">
                <a:solidFill>
                  <a:srgbClr val="262D38"/>
                </a:solidFill>
                <a:latin typeface="Microsoft YaHei"/>
              </a:rPr>
              <a:t>核心启示：Agent 必须成为一等工程公民。</a:t>
            </a:r>
          </a:p>
        </p:txBody>
      </p:sp>
      <p:sp>
        <p:nvSpPr>
          <p:cNvPr id="14" name="Rounded Rectangle 13"/>
          <p:cNvSpPr/>
          <p:nvPr/>
        </p:nvSpPr>
        <p:spPr>
          <a:xfrm>
            <a:off x="7973568" y="1783080"/>
            <a:ext cx="3566160" cy="4023360"/>
          </a:xfrm>
          <a:prstGeom prst="roundRect">
            <a:avLst/>
          </a:prstGeom>
          <a:solidFill>
            <a:srgbClr val="FFFFFF"/>
          </a:solidFill>
          <a:ln w="1524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38160" y="1929384"/>
            <a:ext cx="3236976" cy="54864"/>
          </a:xfrm>
          <a:prstGeom prst="rect">
            <a:avLst/>
          </a:prstGeom>
          <a:solidFill>
            <a:srgbClr val="BC91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19872" y="2075688"/>
            <a:ext cx="3273552" cy="320040"/>
          </a:xfrm>
          <a:prstGeom prst="rect">
            <a:avLst/>
          </a:prstGeom>
          <a:noFill/>
        </p:spPr>
        <p:txBody>
          <a:bodyPr wrap="square" anchor="t">
            <a:spAutoFit/>
          </a:bodyPr>
          <a:lstStyle/>
          <a:p>
            <a:pPr algn="ctr"/>
            <a:r>
              <a:rPr sz="1700" b="1">
                <a:solidFill>
                  <a:srgbClr val="192A46"/>
                </a:solidFill>
                <a:latin typeface="Microsoft YaHei"/>
              </a:rPr>
              <a:t>Hashimoto / Huntley</a:t>
            </a:r>
          </a:p>
        </p:txBody>
      </p:sp>
      <p:sp>
        <p:nvSpPr>
          <p:cNvPr id="17" name="TextBox 16"/>
          <p:cNvSpPr txBox="1"/>
          <p:nvPr/>
        </p:nvSpPr>
        <p:spPr>
          <a:xfrm>
            <a:off x="8119872" y="2496312"/>
            <a:ext cx="3273552" cy="3182112"/>
          </a:xfrm>
          <a:prstGeom prst="rect">
            <a:avLst/>
          </a:prstGeom>
          <a:noFill/>
        </p:spPr>
        <p:txBody>
          <a:bodyPr wrap="square">
            <a:spAutoFit/>
          </a:bodyPr>
          <a:lstStyle/>
          <a:p>
            <a:pPr algn="ctr">
              <a:spcAft>
                <a:spcPts val="600"/>
              </a:spcAft>
            </a:pPr>
            <a:r>
              <a:rPr sz="1500">
                <a:solidFill>
                  <a:srgbClr val="262D38"/>
                </a:solidFill>
                <a:latin typeface="Microsoft YaHei"/>
              </a:rPr>
              <a:t>把每次失败沉淀到 AGENTS.md 中，形成长期反馈资产。</a:t>
            </a:r>
          </a:p>
          <a:p>
            <a:pPr algn="ctr">
              <a:spcAft>
                <a:spcPts val="600"/>
              </a:spcAft>
            </a:pPr>
            <a:r>
              <a:rPr sz="1500">
                <a:solidFill>
                  <a:srgbClr val="262D38"/>
                </a:solidFill>
                <a:latin typeface="Microsoft YaHei"/>
              </a:rPr>
              <a:t>通过上游和下游 Backpressure 约束 Agent 输出。</a:t>
            </a:r>
          </a:p>
          <a:p>
            <a:pPr algn="ctr">
              <a:spcAft>
                <a:spcPts val="600"/>
              </a:spcAft>
            </a:pPr>
            <a:r>
              <a:rPr sz="1500">
                <a:solidFill>
                  <a:srgbClr val="262D38"/>
                </a:solidFill>
                <a:latin typeface="Microsoft YaHei"/>
              </a:rPr>
              <a:t>核心启示：文档和约束都必须活化。</a:t>
            </a:r>
          </a:p>
        </p:txBody>
      </p:sp>
      <p:sp>
        <p:nvSpPr>
          <p:cNvPr id="18" name="TextBox 17"/>
          <p:cNvSpPr txBox="1"/>
          <p:nvPr/>
        </p:nvSpPr>
        <p:spPr>
          <a:xfrm>
            <a:off x="411480" y="6400800"/>
            <a:ext cx="11155680" cy="182880"/>
          </a:xfrm>
          <a:prstGeom prst="rect">
            <a:avLst/>
          </a:prstGeom>
          <a:noFill/>
        </p:spPr>
        <p:txBody>
          <a:bodyPr wrap="none">
            <a:spAutoFit/>
          </a:bodyPr>
          <a:lstStyle/>
          <a:p>
            <a:pPr algn="r"/>
            <a:r>
              <a:rPr sz="900">
                <a:solidFill>
                  <a:srgbClr val="6C788A"/>
                </a:solidFill>
                <a:latin typeface="Aptos"/>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191695" cy="310896"/>
          </a:xfrm>
          <a:prstGeom prst="rect">
            <a:avLst/>
          </a:prstGeom>
          <a:solidFill>
            <a:srgbClr val="19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75488"/>
            <a:ext cx="10698480" cy="228600"/>
          </a:xfrm>
          <a:prstGeom prst="rect">
            <a:avLst/>
          </a:prstGeom>
          <a:noFill/>
        </p:spPr>
        <p:txBody>
          <a:bodyPr wrap="square" anchor="t">
            <a:spAutoFit/>
          </a:bodyPr>
          <a:lstStyle/>
          <a:p>
            <a:pPr algn="ctr"/>
            <a:r>
              <a:rPr sz="1100" b="1">
                <a:solidFill>
                  <a:srgbClr val="197B8A"/>
                </a:solidFill>
                <a:latin typeface="Aptos"/>
              </a:rPr>
              <a:t>ORGANIZATIONAL IMPACT</a:t>
            </a:r>
          </a:p>
        </p:txBody>
      </p:sp>
      <p:sp>
        <p:nvSpPr>
          <p:cNvPr id="4" name="TextBox 3"/>
          <p:cNvSpPr txBox="1"/>
          <p:nvPr/>
        </p:nvSpPr>
        <p:spPr>
          <a:xfrm>
            <a:off x="685800" y="749808"/>
            <a:ext cx="10835640" cy="502920"/>
          </a:xfrm>
          <a:prstGeom prst="rect">
            <a:avLst/>
          </a:prstGeom>
          <a:noFill/>
        </p:spPr>
        <p:txBody>
          <a:bodyPr wrap="square" anchor="t">
            <a:spAutoFit/>
          </a:bodyPr>
          <a:lstStyle/>
          <a:p>
            <a:pPr algn="ctr"/>
            <a:r>
              <a:rPr sz="2400" b="1">
                <a:solidFill>
                  <a:srgbClr val="192A46"/>
                </a:solidFill>
                <a:latin typeface="Microsoft YaHei"/>
              </a:rPr>
              <a:t>工程师角色变化与成熟度模型</a:t>
            </a:r>
          </a:p>
        </p:txBody>
      </p:sp>
      <p:sp>
        <p:nvSpPr>
          <p:cNvPr id="5" name="TextBox 4"/>
          <p:cNvSpPr txBox="1"/>
          <p:nvPr/>
        </p:nvSpPr>
        <p:spPr>
          <a:xfrm>
            <a:off x="960120" y="1234440"/>
            <a:ext cx="10287000" cy="411480"/>
          </a:xfrm>
          <a:prstGeom prst="rect">
            <a:avLst/>
          </a:prstGeom>
          <a:noFill/>
        </p:spPr>
        <p:txBody>
          <a:bodyPr wrap="square" anchor="t">
            <a:spAutoFit/>
          </a:bodyPr>
          <a:lstStyle/>
          <a:p>
            <a:pPr algn="ctr"/>
            <a:r>
              <a:rPr sz="1400" b="0">
                <a:solidFill>
                  <a:srgbClr val="6C788A"/>
                </a:solidFill>
                <a:latin typeface="Microsoft YaHei"/>
              </a:rPr>
              <a:t>Harness 不只是技术升级，也意味着流程与角色重构。</a:t>
            </a:r>
          </a:p>
        </p:txBody>
      </p:sp>
      <p:sp>
        <p:nvSpPr>
          <p:cNvPr id="6" name="Rounded Rectangle 5"/>
          <p:cNvSpPr/>
          <p:nvPr/>
        </p:nvSpPr>
        <p:spPr>
          <a:xfrm>
            <a:off x="658368" y="1783080"/>
            <a:ext cx="5394960" cy="2011680"/>
          </a:xfrm>
          <a:prstGeom prst="roundRect">
            <a:avLst/>
          </a:prstGeom>
          <a:solidFill>
            <a:srgbClr val="FFFFFF"/>
          </a:solidFill>
          <a:ln w="1524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1929384"/>
            <a:ext cx="5065776" cy="54864"/>
          </a:xfrm>
          <a:prstGeom prst="rect">
            <a:avLst/>
          </a:prstGeom>
          <a:solidFill>
            <a:srgbClr val="197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2075688"/>
            <a:ext cx="5102352" cy="320040"/>
          </a:xfrm>
          <a:prstGeom prst="rect">
            <a:avLst/>
          </a:prstGeom>
          <a:noFill/>
        </p:spPr>
        <p:txBody>
          <a:bodyPr wrap="square" anchor="t">
            <a:spAutoFit/>
          </a:bodyPr>
          <a:lstStyle/>
          <a:p>
            <a:pPr algn="ctr"/>
            <a:r>
              <a:rPr sz="1700" b="1">
                <a:solidFill>
                  <a:srgbClr val="192A46"/>
                </a:solidFill>
                <a:latin typeface="Microsoft YaHei"/>
              </a:rPr>
              <a:t>工程师角色变化</a:t>
            </a:r>
          </a:p>
        </p:txBody>
      </p:sp>
      <p:sp>
        <p:nvSpPr>
          <p:cNvPr id="9" name="TextBox 8"/>
          <p:cNvSpPr txBox="1"/>
          <p:nvPr/>
        </p:nvSpPr>
        <p:spPr>
          <a:xfrm>
            <a:off x="804672" y="2496312"/>
            <a:ext cx="5102352" cy="1170432"/>
          </a:xfrm>
          <a:prstGeom prst="rect">
            <a:avLst/>
          </a:prstGeom>
          <a:noFill/>
        </p:spPr>
        <p:txBody>
          <a:bodyPr wrap="square">
            <a:spAutoFit/>
          </a:bodyPr>
          <a:lstStyle/>
          <a:p>
            <a:pPr algn="ctr">
              <a:spcAft>
                <a:spcPts val="600"/>
              </a:spcAft>
            </a:pPr>
            <a:r>
              <a:rPr sz="1500">
                <a:solidFill>
                  <a:srgbClr val="262D38"/>
                </a:solidFill>
                <a:latin typeface="Microsoft YaHei"/>
              </a:rPr>
              <a:t>从直接实现者转向环境设计者与系统管理者。</a:t>
            </a:r>
          </a:p>
          <a:p>
            <a:pPr algn="ctr">
              <a:spcAft>
                <a:spcPts val="600"/>
              </a:spcAft>
            </a:pPr>
            <a:r>
              <a:rPr sz="1500">
                <a:solidFill>
                  <a:srgbClr val="262D38"/>
                </a:solidFill>
                <a:latin typeface="Microsoft YaHei"/>
              </a:rPr>
              <a:t>从单次编码能力转向规划、审查、约束设计和工作流治理能力。</a:t>
            </a:r>
          </a:p>
        </p:txBody>
      </p:sp>
      <p:sp>
        <p:nvSpPr>
          <p:cNvPr id="10" name="Rounded Rectangle 9"/>
          <p:cNvSpPr/>
          <p:nvPr/>
        </p:nvSpPr>
        <p:spPr>
          <a:xfrm>
            <a:off x="6144768" y="1783080"/>
            <a:ext cx="5394960" cy="2011680"/>
          </a:xfrm>
          <a:prstGeom prst="roundRect">
            <a:avLst/>
          </a:prstGeom>
          <a:solidFill>
            <a:srgbClr val="FFFFFF"/>
          </a:solidFill>
          <a:ln w="1524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09360" y="1929384"/>
            <a:ext cx="5065776" cy="54864"/>
          </a:xfrm>
          <a:prstGeom prst="rect">
            <a:avLst/>
          </a:prstGeom>
          <a:solidFill>
            <a:srgbClr val="375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1072" y="2075688"/>
            <a:ext cx="5102352" cy="320040"/>
          </a:xfrm>
          <a:prstGeom prst="rect">
            <a:avLst/>
          </a:prstGeom>
          <a:noFill/>
        </p:spPr>
        <p:txBody>
          <a:bodyPr wrap="square" anchor="t">
            <a:spAutoFit/>
          </a:bodyPr>
          <a:lstStyle/>
          <a:p>
            <a:pPr algn="ctr"/>
            <a:r>
              <a:rPr sz="1700" b="1">
                <a:solidFill>
                  <a:srgbClr val="192A46"/>
                </a:solidFill>
                <a:latin typeface="Microsoft YaHei"/>
              </a:rPr>
              <a:t>管理风格变化</a:t>
            </a:r>
          </a:p>
        </p:txBody>
      </p:sp>
      <p:sp>
        <p:nvSpPr>
          <p:cNvPr id="13" name="TextBox 12"/>
          <p:cNvSpPr txBox="1"/>
          <p:nvPr/>
        </p:nvSpPr>
        <p:spPr>
          <a:xfrm>
            <a:off x="6291072" y="2496312"/>
            <a:ext cx="5102352" cy="1170432"/>
          </a:xfrm>
          <a:prstGeom prst="rect">
            <a:avLst/>
          </a:prstGeom>
          <a:noFill/>
        </p:spPr>
        <p:txBody>
          <a:bodyPr wrap="square">
            <a:spAutoFit/>
          </a:bodyPr>
          <a:lstStyle/>
          <a:p>
            <a:pPr algn="ctr">
              <a:spcAft>
                <a:spcPts val="600"/>
              </a:spcAft>
            </a:pPr>
            <a:r>
              <a:rPr sz="1500">
                <a:solidFill>
                  <a:srgbClr val="262D38"/>
                </a:solidFill>
                <a:latin typeface="Microsoft YaHei"/>
              </a:rPr>
              <a:t>一端是深度参与的单 Agent 管理方式。</a:t>
            </a:r>
          </a:p>
          <a:p>
            <a:pPr algn="ctr">
              <a:spcAft>
                <a:spcPts val="600"/>
              </a:spcAft>
            </a:pPr>
            <a:r>
              <a:rPr sz="1500">
                <a:solidFill>
                  <a:srgbClr val="262D38"/>
                </a:solidFill>
                <a:latin typeface="Microsoft YaHei"/>
              </a:rPr>
              <a:t>另一端是高度自治的无人值守并行方式，取决于 Harness 成熟度与信任水平。</a:t>
            </a:r>
          </a:p>
        </p:txBody>
      </p:sp>
      <p:sp>
        <p:nvSpPr>
          <p:cNvPr id="14" name="Rounded Rectangle 13"/>
          <p:cNvSpPr/>
          <p:nvPr/>
        </p:nvSpPr>
        <p:spPr>
          <a:xfrm>
            <a:off x="658368" y="4114800"/>
            <a:ext cx="2011680" cy="1280160"/>
          </a:xfrm>
          <a:prstGeom prst="roundRect">
            <a:avLst/>
          </a:prstGeom>
          <a:solidFill>
            <a:srgbClr val="FFFFFF"/>
          </a:solidFill>
          <a:ln w="1524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 y="4261104"/>
            <a:ext cx="1682496" cy="54864"/>
          </a:xfrm>
          <a:prstGeom prst="rect">
            <a:avLst/>
          </a:prstGeom>
          <a:solidFill>
            <a:srgbClr val="6C78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2" y="4407408"/>
            <a:ext cx="1719072" cy="320040"/>
          </a:xfrm>
          <a:prstGeom prst="rect">
            <a:avLst/>
          </a:prstGeom>
          <a:noFill/>
        </p:spPr>
        <p:txBody>
          <a:bodyPr wrap="square" anchor="t">
            <a:spAutoFit/>
          </a:bodyPr>
          <a:lstStyle/>
          <a:p>
            <a:pPr algn="ctr"/>
            <a:r>
              <a:rPr sz="1700" b="1">
                <a:solidFill>
                  <a:srgbClr val="192A46"/>
                </a:solidFill>
                <a:latin typeface="Microsoft YaHei"/>
              </a:rPr>
              <a:t>L0-L1</a:t>
            </a:r>
          </a:p>
        </p:txBody>
      </p:sp>
      <p:sp>
        <p:nvSpPr>
          <p:cNvPr id="17" name="TextBox 16"/>
          <p:cNvSpPr txBox="1"/>
          <p:nvPr/>
        </p:nvSpPr>
        <p:spPr>
          <a:xfrm>
            <a:off x="804672" y="4828032"/>
            <a:ext cx="1719072" cy="438912"/>
          </a:xfrm>
          <a:prstGeom prst="rect">
            <a:avLst/>
          </a:prstGeom>
          <a:noFill/>
        </p:spPr>
        <p:txBody>
          <a:bodyPr wrap="square">
            <a:spAutoFit/>
          </a:bodyPr>
          <a:lstStyle/>
          <a:p>
            <a:pPr algn="ctr">
              <a:spcAft>
                <a:spcPts val="600"/>
              </a:spcAft>
            </a:pPr>
            <a:r>
              <a:rPr sz="1400">
                <a:solidFill>
                  <a:srgbClr val="262D38"/>
                </a:solidFill>
                <a:latin typeface="Microsoft YaHei"/>
              </a:rPr>
              <a:t>无 Harness 到基础约束</a:t>
            </a:r>
          </a:p>
          <a:p>
            <a:pPr algn="ctr">
              <a:spcAft>
                <a:spcPts val="600"/>
              </a:spcAft>
            </a:pPr>
            <a:r>
              <a:rPr sz="1400">
                <a:solidFill>
                  <a:srgbClr val="262D38"/>
                </a:solidFill>
                <a:latin typeface="Microsoft YaHei"/>
              </a:rPr>
              <a:t>主要仍靠人工驱动</a:t>
            </a:r>
          </a:p>
        </p:txBody>
      </p:sp>
      <p:sp>
        <p:nvSpPr>
          <p:cNvPr id="18" name="Rounded Rectangle 17"/>
          <p:cNvSpPr/>
          <p:nvPr/>
        </p:nvSpPr>
        <p:spPr>
          <a:xfrm>
            <a:off x="2788920" y="4114800"/>
            <a:ext cx="2011680" cy="1280160"/>
          </a:xfrm>
          <a:prstGeom prst="roundRect">
            <a:avLst/>
          </a:prstGeom>
          <a:solidFill>
            <a:srgbClr val="FFFFFF"/>
          </a:solidFill>
          <a:ln w="1524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953512" y="4261104"/>
            <a:ext cx="1682496" cy="54864"/>
          </a:xfrm>
          <a:prstGeom prst="rect">
            <a:avLst/>
          </a:prstGeom>
          <a:solidFill>
            <a:srgbClr val="197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935224" y="4407408"/>
            <a:ext cx="1719072" cy="320040"/>
          </a:xfrm>
          <a:prstGeom prst="rect">
            <a:avLst/>
          </a:prstGeom>
          <a:noFill/>
        </p:spPr>
        <p:txBody>
          <a:bodyPr wrap="square" anchor="t">
            <a:spAutoFit/>
          </a:bodyPr>
          <a:lstStyle/>
          <a:p>
            <a:pPr algn="ctr"/>
            <a:r>
              <a:rPr sz="1700" b="1">
                <a:solidFill>
                  <a:srgbClr val="192A46"/>
                </a:solidFill>
                <a:latin typeface="Microsoft YaHei"/>
              </a:rPr>
              <a:t>L2</a:t>
            </a:r>
          </a:p>
        </p:txBody>
      </p:sp>
      <p:sp>
        <p:nvSpPr>
          <p:cNvPr id="21" name="TextBox 20"/>
          <p:cNvSpPr txBox="1"/>
          <p:nvPr/>
        </p:nvSpPr>
        <p:spPr>
          <a:xfrm>
            <a:off x="2935224" y="4828032"/>
            <a:ext cx="1719072" cy="438912"/>
          </a:xfrm>
          <a:prstGeom prst="rect">
            <a:avLst/>
          </a:prstGeom>
          <a:noFill/>
        </p:spPr>
        <p:txBody>
          <a:bodyPr wrap="square">
            <a:spAutoFit/>
          </a:bodyPr>
          <a:lstStyle/>
          <a:p>
            <a:pPr algn="ctr">
              <a:spcAft>
                <a:spcPts val="600"/>
              </a:spcAft>
            </a:pPr>
            <a:r>
              <a:rPr sz="1400">
                <a:solidFill>
                  <a:srgbClr val="262D38"/>
                </a:solidFill>
                <a:latin typeface="Microsoft YaHei"/>
              </a:rPr>
              <a:t>反馈回路建立</a:t>
            </a:r>
          </a:p>
          <a:p>
            <a:pPr algn="ctr">
              <a:spcAft>
                <a:spcPts val="600"/>
              </a:spcAft>
            </a:pPr>
            <a:r>
              <a:rPr sz="1400">
                <a:solidFill>
                  <a:srgbClr val="262D38"/>
                </a:solidFill>
                <a:latin typeface="Microsoft YaHei"/>
              </a:rPr>
              <a:t>CI、测试、进度追踪成型</a:t>
            </a:r>
          </a:p>
        </p:txBody>
      </p:sp>
      <p:sp>
        <p:nvSpPr>
          <p:cNvPr id="22" name="Rounded Rectangle 21"/>
          <p:cNvSpPr/>
          <p:nvPr/>
        </p:nvSpPr>
        <p:spPr>
          <a:xfrm>
            <a:off x="4919472" y="4114800"/>
            <a:ext cx="2011680" cy="1280160"/>
          </a:xfrm>
          <a:prstGeom prst="roundRect">
            <a:avLst/>
          </a:prstGeom>
          <a:solidFill>
            <a:srgbClr val="FFFFFF"/>
          </a:solidFill>
          <a:ln w="1524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84064" y="4261104"/>
            <a:ext cx="1682496" cy="54864"/>
          </a:xfrm>
          <a:prstGeom prst="rect">
            <a:avLst/>
          </a:prstGeom>
          <a:solidFill>
            <a:srgbClr val="375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65776" y="4407408"/>
            <a:ext cx="1719072" cy="320040"/>
          </a:xfrm>
          <a:prstGeom prst="rect">
            <a:avLst/>
          </a:prstGeom>
          <a:noFill/>
        </p:spPr>
        <p:txBody>
          <a:bodyPr wrap="square" anchor="t">
            <a:spAutoFit/>
          </a:bodyPr>
          <a:lstStyle/>
          <a:p>
            <a:pPr algn="ctr"/>
            <a:r>
              <a:rPr sz="1700" b="1">
                <a:solidFill>
                  <a:srgbClr val="192A46"/>
                </a:solidFill>
                <a:latin typeface="Microsoft YaHei"/>
              </a:rPr>
              <a:t>L3</a:t>
            </a:r>
          </a:p>
        </p:txBody>
      </p:sp>
      <p:sp>
        <p:nvSpPr>
          <p:cNvPr id="25" name="TextBox 24"/>
          <p:cNvSpPr txBox="1"/>
          <p:nvPr/>
        </p:nvSpPr>
        <p:spPr>
          <a:xfrm>
            <a:off x="5065776" y="4828032"/>
            <a:ext cx="1719072" cy="438912"/>
          </a:xfrm>
          <a:prstGeom prst="rect">
            <a:avLst/>
          </a:prstGeom>
          <a:noFill/>
        </p:spPr>
        <p:txBody>
          <a:bodyPr wrap="square">
            <a:spAutoFit/>
          </a:bodyPr>
          <a:lstStyle/>
          <a:p>
            <a:pPr algn="ctr">
              <a:spcAft>
                <a:spcPts val="600"/>
              </a:spcAft>
            </a:pPr>
            <a:r>
              <a:rPr sz="1400">
                <a:solidFill>
                  <a:srgbClr val="262D38"/>
                </a:solidFill>
                <a:latin typeface="Microsoft YaHei"/>
              </a:rPr>
              <a:t>多 Agent 专业化</a:t>
            </a:r>
          </a:p>
          <a:p>
            <a:pPr algn="ctr">
              <a:spcAft>
                <a:spcPts val="600"/>
              </a:spcAft>
            </a:pPr>
            <a:r>
              <a:rPr sz="1400">
                <a:solidFill>
                  <a:srgbClr val="262D38"/>
                </a:solidFill>
                <a:latin typeface="Microsoft YaHei"/>
              </a:rPr>
              <a:t>上下文分层与持久化记忆</a:t>
            </a:r>
          </a:p>
        </p:txBody>
      </p:sp>
      <p:sp>
        <p:nvSpPr>
          <p:cNvPr id="26" name="Rounded Rectangle 25"/>
          <p:cNvSpPr/>
          <p:nvPr/>
        </p:nvSpPr>
        <p:spPr>
          <a:xfrm>
            <a:off x="7050024" y="4114800"/>
            <a:ext cx="2011680" cy="1280160"/>
          </a:xfrm>
          <a:prstGeom prst="roundRect">
            <a:avLst/>
          </a:prstGeom>
          <a:solidFill>
            <a:srgbClr val="FFFFFF"/>
          </a:solidFill>
          <a:ln w="1524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214616" y="4261104"/>
            <a:ext cx="1682496" cy="54864"/>
          </a:xfrm>
          <a:prstGeom prst="rect">
            <a:avLst/>
          </a:prstGeom>
          <a:solidFill>
            <a:srgbClr val="BC91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96328" y="4407408"/>
            <a:ext cx="1719072" cy="320040"/>
          </a:xfrm>
          <a:prstGeom prst="rect">
            <a:avLst/>
          </a:prstGeom>
          <a:noFill/>
        </p:spPr>
        <p:txBody>
          <a:bodyPr wrap="square" anchor="t">
            <a:spAutoFit/>
          </a:bodyPr>
          <a:lstStyle/>
          <a:p>
            <a:pPr algn="ctr"/>
            <a:r>
              <a:rPr sz="1700" b="1">
                <a:solidFill>
                  <a:srgbClr val="192A46"/>
                </a:solidFill>
                <a:latin typeface="Microsoft YaHei"/>
              </a:rPr>
              <a:t>L4</a:t>
            </a:r>
          </a:p>
        </p:txBody>
      </p:sp>
      <p:sp>
        <p:nvSpPr>
          <p:cNvPr id="29" name="TextBox 28"/>
          <p:cNvSpPr txBox="1"/>
          <p:nvPr/>
        </p:nvSpPr>
        <p:spPr>
          <a:xfrm>
            <a:off x="7196328" y="4828032"/>
            <a:ext cx="1719072" cy="438912"/>
          </a:xfrm>
          <a:prstGeom prst="rect">
            <a:avLst/>
          </a:prstGeom>
          <a:noFill/>
        </p:spPr>
        <p:txBody>
          <a:bodyPr wrap="square">
            <a:spAutoFit/>
          </a:bodyPr>
          <a:lstStyle/>
          <a:p>
            <a:pPr algn="ctr">
              <a:spcAft>
                <a:spcPts val="600"/>
              </a:spcAft>
            </a:pPr>
            <a:r>
              <a:rPr sz="1400">
                <a:solidFill>
                  <a:srgbClr val="262D38"/>
                </a:solidFill>
                <a:latin typeface="Microsoft YaHei"/>
              </a:rPr>
              <a:t>自治循环</a:t>
            </a:r>
          </a:p>
          <a:p>
            <a:pPr algn="ctr">
              <a:spcAft>
                <a:spcPts val="600"/>
              </a:spcAft>
            </a:pPr>
            <a:r>
              <a:rPr sz="1400">
                <a:solidFill>
                  <a:srgbClr val="262D38"/>
                </a:solidFill>
                <a:latin typeface="Microsoft YaHei"/>
              </a:rPr>
              <a:t>并行化、熵管理、自修复</a:t>
            </a:r>
          </a:p>
        </p:txBody>
      </p:sp>
      <p:sp>
        <p:nvSpPr>
          <p:cNvPr id="30" name="Rounded Rectangle 29"/>
          <p:cNvSpPr/>
          <p:nvPr/>
        </p:nvSpPr>
        <p:spPr>
          <a:xfrm>
            <a:off x="9180576" y="4114800"/>
            <a:ext cx="2011680" cy="1280160"/>
          </a:xfrm>
          <a:prstGeom prst="roundRect">
            <a:avLst/>
          </a:prstGeom>
          <a:solidFill>
            <a:srgbClr val="FFFFFF"/>
          </a:solidFill>
          <a:ln w="1524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345168" y="4261104"/>
            <a:ext cx="1682496" cy="54864"/>
          </a:xfrm>
          <a:prstGeom prst="rect">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326880" y="4407408"/>
            <a:ext cx="1719072" cy="320040"/>
          </a:xfrm>
          <a:prstGeom prst="rect">
            <a:avLst/>
          </a:prstGeom>
          <a:noFill/>
        </p:spPr>
        <p:txBody>
          <a:bodyPr wrap="square" anchor="t">
            <a:spAutoFit/>
          </a:bodyPr>
          <a:lstStyle/>
          <a:p>
            <a:pPr algn="ctr"/>
            <a:r>
              <a:rPr sz="1700" b="1">
                <a:solidFill>
                  <a:srgbClr val="192A46"/>
                </a:solidFill>
                <a:latin typeface="Microsoft YaHei"/>
              </a:rPr>
              <a:t>建议</a:t>
            </a:r>
          </a:p>
        </p:txBody>
      </p:sp>
      <p:sp>
        <p:nvSpPr>
          <p:cNvPr id="33" name="TextBox 32"/>
          <p:cNvSpPr txBox="1"/>
          <p:nvPr/>
        </p:nvSpPr>
        <p:spPr>
          <a:xfrm>
            <a:off x="9326880" y="4828032"/>
            <a:ext cx="1719072" cy="438912"/>
          </a:xfrm>
          <a:prstGeom prst="rect">
            <a:avLst/>
          </a:prstGeom>
          <a:noFill/>
        </p:spPr>
        <p:txBody>
          <a:bodyPr wrap="square">
            <a:spAutoFit/>
          </a:bodyPr>
          <a:lstStyle/>
          <a:p>
            <a:pPr algn="ctr">
              <a:spcAft>
                <a:spcPts val="600"/>
              </a:spcAft>
            </a:pPr>
            <a:r>
              <a:rPr sz="1400">
                <a:solidFill>
                  <a:srgbClr val="262D38"/>
                </a:solidFill>
                <a:latin typeface="Microsoft YaHei"/>
              </a:rPr>
              <a:t>多数团队先做扎实 L1-L2</a:t>
            </a:r>
          </a:p>
          <a:p>
            <a:pPr algn="ctr">
              <a:spcAft>
                <a:spcPts val="600"/>
              </a:spcAft>
            </a:pPr>
            <a:r>
              <a:rPr sz="1400">
                <a:solidFill>
                  <a:srgbClr val="262D38"/>
                </a:solidFill>
                <a:latin typeface="Microsoft YaHei"/>
              </a:rPr>
              <a:t>再考虑大规模自治</a:t>
            </a:r>
          </a:p>
        </p:txBody>
      </p:sp>
      <p:sp>
        <p:nvSpPr>
          <p:cNvPr id="34" name="TextBox 33"/>
          <p:cNvSpPr txBox="1"/>
          <p:nvPr/>
        </p:nvSpPr>
        <p:spPr>
          <a:xfrm>
            <a:off x="411480" y="6400800"/>
            <a:ext cx="11155680" cy="182880"/>
          </a:xfrm>
          <a:prstGeom prst="rect">
            <a:avLst/>
          </a:prstGeom>
          <a:noFill/>
        </p:spPr>
        <p:txBody>
          <a:bodyPr wrap="none">
            <a:spAutoFit/>
          </a:bodyPr>
          <a:lstStyle/>
          <a:p>
            <a:pPr algn="r"/>
            <a:r>
              <a:rPr sz="900">
                <a:solidFill>
                  <a:srgbClr val="6C788A"/>
                </a:solidFill>
                <a:latin typeface="Aptos"/>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191695" cy="310896"/>
          </a:xfrm>
          <a:prstGeom prst="rect">
            <a:avLst/>
          </a:prstGeom>
          <a:solidFill>
            <a:srgbClr val="19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75488"/>
            <a:ext cx="10698480" cy="228600"/>
          </a:xfrm>
          <a:prstGeom prst="rect">
            <a:avLst/>
          </a:prstGeom>
          <a:noFill/>
        </p:spPr>
        <p:txBody>
          <a:bodyPr wrap="square" anchor="t">
            <a:spAutoFit/>
          </a:bodyPr>
          <a:lstStyle/>
          <a:p>
            <a:pPr algn="ctr"/>
            <a:r>
              <a:rPr sz="1100" b="1">
                <a:solidFill>
                  <a:srgbClr val="197B8A"/>
                </a:solidFill>
                <a:latin typeface="Aptos"/>
              </a:rPr>
              <a:t>ROADMAP</a:t>
            </a:r>
          </a:p>
        </p:txBody>
      </p:sp>
      <p:sp>
        <p:nvSpPr>
          <p:cNvPr id="4" name="TextBox 3"/>
          <p:cNvSpPr txBox="1"/>
          <p:nvPr/>
        </p:nvSpPr>
        <p:spPr>
          <a:xfrm>
            <a:off x="685800" y="749808"/>
            <a:ext cx="10835640" cy="502920"/>
          </a:xfrm>
          <a:prstGeom prst="rect">
            <a:avLst/>
          </a:prstGeom>
          <a:noFill/>
        </p:spPr>
        <p:txBody>
          <a:bodyPr wrap="square" anchor="t">
            <a:spAutoFit/>
          </a:bodyPr>
          <a:lstStyle/>
          <a:p>
            <a:pPr algn="ctr"/>
            <a:r>
              <a:rPr sz="2400" b="1">
                <a:solidFill>
                  <a:srgbClr val="192A46"/>
                </a:solidFill>
                <a:latin typeface="Microsoft YaHei"/>
              </a:rPr>
              <a:t>30 / 60 / 90 天落地建议</a:t>
            </a:r>
          </a:p>
        </p:txBody>
      </p:sp>
      <p:sp>
        <p:nvSpPr>
          <p:cNvPr id="5" name="TextBox 4"/>
          <p:cNvSpPr txBox="1"/>
          <p:nvPr/>
        </p:nvSpPr>
        <p:spPr>
          <a:xfrm>
            <a:off x="960120" y="1234440"/>
            <a:ext cx="10287000" cy="411480"/>
          </a:xfrm>
          <a:prstGeom prst="rect">
            <a:avLst/>
          </a:prstGeom>
          <a:noFill/>
        </p:spPr>
        <p:txBody>
          <a:bodyPr wrap="square" anchor="t">
            <a:spAutoFit/>
          </a:bodyPr>
          <a:lstStyle/>
          <a:p>
            <a:pPr algn="ctr"/>
            <a:r>
              <a:rPr sz="1400" b="0">
                <a:solidFill>
                  <a:srgbClr val="6C788A"/>
                </a:solidFill>
                <a:latin typeface="Microsoft YaHei"/>
              </a:rPr>
              <a:t>适用于从零开始或准备正式引入 Agent 工程体系的团队。</a:t>
            </a:r>
          </a:p>
        </p:txBody>
      </p:sp>
      <p:sp>
        <p:nvSpPr>
          <p:cNvPr id="6" name="Rounded Rectangle 5"/>
          <p:cNvSpPr/>
          <p:nvPr/>
        </p:nvSpPr>
        <p:spPr>
          <a:xfrm>
            <a:off x="658368" y="1828800"/>
            <a:ext cx="3566160" cy="3794760"/>
          </a:xfrm>
          <a:prstGeom prst="roundRect">
            <a:avLst/>
          </a:prstGeom>
          <a:solidFill>
            <a:srgbClr val="FFFFFF"/>
          </a:solidFill>
          <a:ln w="1524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1975104"/>
            <a:ext cx="3236976" cy="54864"/>
          </a:xfrm>
          <a:prstGeom prst="rect">
            <a:avLst/>
          </a:prstGeom>
          <a:solidFill>
            <a:srgbClr val="197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2121408"/>
            <a:ext cx="3273552" cy="320040"/>
          </a:xfrm>
          <a:prstGeom prst="rect">
            <a:avLst/>
          </a:prstGeom>
          <a:noFill/>
        </p:spPr>
        <p:txBody>
          <a:bodyPr wrap="square" anchor="t">
            <a:spAutoFit/>
          </a:bodyPr>
          <a:lstStyle/>
          <a:p>
            <a:pPr algn="ctr"/>
            <a:r>
              <a:rPr sz="1700" b="1">
                <a:solidFill>
                  <a:srgbClr val="192A46"/>
                </a:solidFill>
                <a:latin typeface="Microsoft YaHei"/>
              </a:rPr>
              <a:t>0-30 天</a:t>
            </a:r>
          </a:p>
        </p:txBody>
      </p:sp>
      <p:sp>
        <p:nvSpPr>
          <p:cNvPr id="9" name="TextBox 8"/>
          <p:cNvSpPr txBox="1"/>
          <p:nvPr/>
        </p:nvSpPr>
        <p:spPr>
          <a:xfrm>
            <a:off x="804672" y="2542032"/>
            <a:ext cx="3273552" cy="2953512"/>
          </a:xfrm>
          <a:prstGeom prst="rect">
            <a:avLst/>
          </a:prstGeom>
          <a:noFill/>
        </p:spPr>
        <p:txBody>
          <a:bodyPr wrap="square">
            <a:spAutoFit/>
          </a:bodyPr>
          <a:lstStyle/>
          <a:p>
            <a:pPr algn="ctr">
              <a:spcAft>
                <a:spcPts val="600"/>
              </a:spcAft>
            </a:pPr>
            <a:r>
              <a:rPr sz="1500">
                <a:solidFill>
                  <a:srgbClr val="262D38"/>
                </a:solidFill>
                <a:latin typeface="Microsoft YaHei"/>
              </a:rPr>
              <a:t>建立 AGENTS.md。</a:t>
            </a:r>
          </a:p>
          <a:p>
            <a:pPr algn="ctr">
              <a:spcAft>
                <a:spcPts val="600"/>
              </a:spcAft>
            </a:pPr>
            <a:r>
              <a:rPr sz="1500">
                <a:solidFill>
                  <a:srgbClr val="262D38"/>
                </a:solidFill>
                <a:latin typeface="Microsoft YaHei"/>
              </a:rPr>
              <a:t>把项目运行方式、基本约束、常见坑写入仓库。</a:t>
            </a:r>
          </a:p>
          <a:p>
            <a:pPr algn="ctr">
              <a:spcAft>
                <a:spcPts val="600"/>
              </a:spcAft>
            </a:pPr>
            <a:r>
              <a:rPr sz="1500">
                <a:solidFill>
                  <a:srgbClr val="262D38"/>
                </a:solidFill>
                <a:latin typeface="Microsoft YaHei"/>
              </a:rPr>
              <a:t>补上基础 CI、Linter 和最关键的端到端验证。</a:t>
            </a:r>
          </a:p>
        </p:txBody>
      </p:sp>
      <p:sp>
        <p:nvSpPr>
          <p:cNvPr id="10" name="Rounded Rectangle 9"/>
          <p:cNvSpPr/>
          <p:nvPr/>
        </p:nvSpPr>
        <p:spPr>
          <a:xfrm>
            <a:off x="4315968" y="1828800"/>
            <a:ext cx="3566160" cy="3794760"/>
          </a:xfrm>
          <a:prstGeom prst="roundRect">
            <a:avLst/>
          </a:prstGeom>
          <a:solidFill>
            <a:srgbClr val="FFFFFF"/>
          </a:solidFill>
          <a:ln w="1524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80560" y="1975104"/>
            <a:ext cx="3236976" cy="54864"/>
          </a:xfrm>
          <a:prstGeom prst="rect">
            <a:avLst/>
          </a:prstGeom>
          <a:solidFill>
            <a:srgbClr val="375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62272" y="2121408"/>
            <a:ext cx="3273552" cy="320040"/>
          </a:xfrm>
          <a:prstGeom prst="rect">
            <a:avLst/>
          </a:prstGeom>
          <a:noFill/>
        </p:spPr>
        <p:txBody>
          <a:bodyPr wrap="square" anchor="t">
            <a:spAutoFit/>
          </a:bodyPr>
          <a:lstStyle/>
          <a:p>
            <a:pPr algn="ctr"/>
            <a:r>
              <a:rPr sz="1700" b="1">
                <a:solidFill>
                  <a:srgbClr val="192A46"/>
                </a:solidFill>
                <a:latin typeface="Microsoft YaHei"/>
              </a:rPr>
              <a:t>31-60 天</a:t>
            </a:r>
          </a:p>
        </p:txBody>
      </p:sp>
      <p:sp>
        <p:nvSpPr>
          <p:cNvPr id="13" name="TextBox 12"/>
          <p:cNvSpPr txBox="1"/>
          <p:nvPr/>
        </p:nvSpPr>
        <p:spPr>
          <a:xfrm>
            <a:off x="4462272" y="2542032"/>
            <a:ext cx="3273552" cy="2953512"/>
          </a:xfrm>
          <a:prstGeom prst="rect">
            <a:avLst/>
          </a:prstGeom>
          <a:noFill/>
        </p:spPr>
        <p:txBody>
          <a:bodyPr wrap="square">
            <a:spAutoFit/>
          </a:bodyPr>
          <a:lstStyle/>
          <a:p>
            <a:pPr algn="ctr">
              <a:spcAft>
                <a:spcPts val="600"/>
              </a:spcAft>
            </a:pPr>
            <a:r>
              <a:rPr sz="1500">
                <a:solidFill>
                  <a:srgbClr val="262D38"/>
                </a:solidFill>
                <a:latin typeface="Microsoft YaHei"/>
              </a:rPr>
              <a:t>引入进度文件与 feature 清单。</a:t>
            </a:r>
          </a:p>
          <a:p>
            <a:pPr algn="ctr">
              <a:spcAft>
                <a:spcPts val="600"/>
              </a:spcAft>
            </a:pPr>
            <a:r>
              <a:rPr sz="1500">
                <a:solidFill>
                  <a:srgbClr val="262D38"/>
                </a:solidFill>
                <a:latin typeface="Microsoft YaHei"/>
              </a:rPr>
              <a:t>开始按任务分层管理上下文。</a:t>
            </a:r>
          </a:p>
          <a:p>
            <a:pPr algn="ctr">
              <a:spcAft>
                <a:spcPts val="600"/>
              </a:spcAft>
            </a:pPr>
            <a:r>
              <a:rPr sz="1500">
                <a:solidFill>
                  <a:srgbClr val="262D38"/>
                </a:solidFill>
                <a:latin typeface="Microsoft YaHei"/>
              </a:rPr>
              <a:t>把错误从“事后修复”转成“规则化预防”。</a:t>
            </a:r>
          </a:p>
        </p:txBody>
      </p:sp>
      <p:sp>
        <p:nvSpPr>
          <p:cNvPr id="14" name="Rounded Rectangle 13"/>
          <p:cNvSpPr/>
          <p:nvPr/>
        </p:nvSpPr>
        <p:spPr>
          <a:xfrm>
            <a:off x="7973568" y="1828800"/>
            <a:ext cx="3566160" cy="3794760"/>
          </a:xfrm>
          <a:prstGeom prst="roundRect">
            <a:avLst/>
          </a:prstGeom>
          <a:solidFill>
            <a:srgbClr val="FFFFFF"/>
          </a:solidFill>
          <a:ln w="1524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38160" y="1975104"/>
            <a:ext cx="3236976" cy="54864"/>
          </a:xfrm>
          <a:prstGeom prst="rect">
            <a:avLst/>
          </a:prstGeom>
          <a:solidFill>
            <a:srgbClr val="BC91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19872" y="2121408"/>
            <a:ext cx="3273552" cy="320040"/>
          </a:xfrm>
          <a:prstGeom prst="rect">
            <a:avLst/>
          </a:prstGeom>
          <a:noFill/>
        </p:spPr>
        <p:txBody>
          <a:bodyPr wrap="square" anchor="t">
            <a:spAutoFit/>
          </a:bodyPr>
          <a:lstStyle/>
          <a:p>
            <a:pPr algn="ctr"/>
            <a:r>
              <a:rPr sz="1700" b="1">
                <a:solidFill>
                  <a:srgbClr val="192A46"/>
                </a:solidFill>
                <a:latin typeface="Microsoft YaHei"/>
              </a:rPr>
              <a:t>61-90 天</a:t>
            </a:r>
          </a:p>
        </p:txBody>
      </p:sp>
      <p:sp>
        <p:nvSpPr>
          <p:cNvPr id="17" name="TextBox 16"/>
          <p:cNvSpPr txBox="1"/>
          <p:nvPr/>
        </p:nvSpPr>
        <p:spPr>
          <a:xfrm>
            <a:off x="8119872" y="2542032"/>
            <a:ext cx="3273552" cy="2953512"/>
          </a:xfrm>
          <a:prstGeom prst="rect">
            <a:avLst/>
          </a:prstGeom>
          <a:noFill/>
        </p:spPr>
        <p:txBody>
          <a:bodyPr wrap="square">
            <a:spAutoFit/>
          </a:bodyPr>
          <a:lstStyle/>
          <a:p>
            <a:pPr algn="ctr">
              <a:spcAft>
                <a:spcPts val="600"/>
              </a:spcAft>
            </a:pPr>
            <a:r>
              <a:rPr sz="1500">
                <a:solidFill>
                  <a:srgbClr val="262D38"/>
                </a:solidFill>
                <a:latin typeface="Microsoft YaHei"/>
              </a:rPr>
              <a:t>尝试专业化子 Agent。</a:t>
            </a:r>
          </a:p>
          <a:p>
            <a:pPr algn="ctr">
              <a:spcAft>
                <a:spcPts val="600"/>
              </a:spcAft>
            </a:pPr>
            <a:r>
              <a:rPr sz="1500">
                <a:solidFill>
                  <a:srgbClr val="262D38"/>
                </a:solidFill>
                <a:latin typeface="Microsoft YaHei"/>
              </a:rPr>
              <a:t>把日志、指标和浏览器自动化接入 Agent 工作流。</a:t>
            </a:r>
          </a:p>
          <a:p>
            <a:pPr algn="ctr">
              <a:spcAft>
                <a:spcPts val="600"/>
              </a:spcAft>
            </a:pPr>
            <a:r>
              <a:rPr sz="1500">
                <a:solidFill>
                  <a:srgbClr val="262D38"/>
                </a:solidFill>
                <a:latin typeface="Microsoft YaHei"/>
              </a:rPr>
              <a:t>开始建立熵管理或垃圾回收机制。</a:t>
            </a:r>
          </a:p>
        </p:txBody>
      </p:sp>
      <p:sp>
        <p:nvSpPr>
          <p:cNvPr id="18" name="TextBox 17"/>
          <p:cNvSpPr txBox="1"/>
          <p:nvPr/>
        </p:nvSpPr>
        <p:spPr>
          <a:xfrm>
            <a:off x="411480" y="6400800"/>
            <a:ext cx="11155680" cy="182880"/>
          </a:xfrm>
          <a:prstGeom prst="rect">
            <a:avLst/>
          </a:prstGeom>
          <a:noFill/>
        </p:spPr>
        <p:txBody>
          <a:bodyPr wrap="none">
            <a:spAutoFit/>
          </a:bodyPr>
          <a:lstStyle/>
          <a:p>
            <a:pPr algn="r"/>
            <a:r>
              <a:rPr sz="900">
                <a:solidFill>
                  <a:srgbClr val="6C788A"/>
                </a:solidFill>
                <a:latin typeface="Aptos"/>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191695" cy="310896"/>
          </a:xfrm>
          <a:prstGeom prst="rect">
            <a:avLst/>
          </a:prstGeom>
          <a:solidFill>
            <a:srgbClr val="19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75488"/>
            <a:ext cx="10698480" cy="228600"/>
          </a:xfrm>
          <a:prstGeom prst="rect">
            <a:avLst/>
          </a:prstGeom>
          <a:noFill/>
        </p:spPr>
        <p:txBody>
          <a:bodyPr wrap="square" anchor="t">
            <a:spAutoFit/>
          </a:bodyPr>
          <a:lstStyle/>
          <a:p>
            <a:pPr algn="ctr"/>
            <a:r>
              <a:rPr sz="1100" b="1">
                <a:solidFill>
                  <a:srgbClr val="197B8A"/>
                </a:solidFill>
                <a:latin typeface="Aptos"/>
              </a:rPr>
              <a:t>LANDSCAPE</a:t>
            </a:r>
          </a:p>
        </p:txBody>
      </p:sp>
      <p:sp>
        <p:nvSpPr>
          <p:cNvPr id="4" name="TextBox 3"/>
          <p:cNvSpPr txBox="1"/>
          <p:nvPr/>
        </p:nvSpPr>
        <p:spPr>
          <a:xfrm>
            <a:off x="685800" y="749808"/>
            <a:ext cx="10835640" cy="502920"/>
          </a:xfrm>
          <a:prstGeom prst="rect">
            <a:avLst/>
          </a:prstGeom>
          <a:noFill/>
        </p:spPr>
        <p:txBody>
          <a:bodyPr wrap="square" anchor="t">
            <a:spAutoFit/>
          </a:bodyPr>
          <a:lstStyle/>
          <a:p>
            <a:pPr algn="ctr"/>
            <a:r>
              <a:rPr sz="2400" b="1">
                <a:solidFill>
                  <a:srgbClr val="192A46"/>
                </a:solidFill>
                <a:latin typeface="Microsoft YaHei"/>
              </a:rPr>
              <a:t>六大共识、四大分歧、三大空白区</a:t>
            </a:r>
          </a:p>
        </p:txBody>
      </p:sp>
      <p:sp>
        <p:nvSpPr>
          <p:cNvPr id="5" name="TextBox 4"/>
          <p:cNvSpPr txBox="1"/>
          <p:nvPr/>
        </p:nvSpPr>
        <p:spPr>
          <a:xfrm>
            <a:off x="960120" y="1234440"/>
            <a:ext cx="10287000" cy="411480"/>
          </a:xfrm>
          <a:prstGeom prst="rect">
            <a:avLst/>
          </a:prstGeom>
          <a:noFill/>
        </p:spPr>
        <p:txBody>
          <a:bodyPr wrap="square" anchor="t">
            <a:spAutoFit/>
          </a:bodyPr>
          <a:lstStyle/>
          <a:p>
            <a:pPr algn="ctr"/>
            <a:r>
              <a:rPr sz="1400" b="0">
                <a:solidFill>
                  <a:srgbClr val="6C788A"/>
                </a:solidFill>
                <a:latin typeface="Microsoft YaHei"/>
              </a:rPr>
              <a:t>这个领域已经有了稳定判断，也仍然存在重要开放问题。</a:t>
            </a:r>
          </a:p>
        </p:txBody>
      </p:sp>
      <p:sp>
        <p:nvSpPr>
          <p:cNvPr id="6" name="Rounded Rectangle 5"/>
          <p:cNvSpPr/>
          <p:nvPr/>
        </p:nvSpPr>
        <p:spPr>
          <a:xfrm>
            <a:off x="658368" y="1783080"/>
            <a:ext cx="3566160" cy="4069080"/>
          </a:xfrm>
          <a:prstGeom prst="roundRect">
            <a:avLst/>
          </a:prstGeom>
          <a:solidFill>
            <a:srgbClr val="FFFFFF"/>
          </a:solidFill>
          <a:ln w="1524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1929384"/>
            <a:ext cx="3236976" cy="54864"/>
          </a:xfrm>
          <a:prstGeom prst="rect">
            <a:avLst/>
          </a:prstGeom>
          <a:solidFill>
            <a:srgbClr val="197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2075688"/>
            <a:ext cx="3273552" cy="320040"/>
          </a:xfrm>
          <a:prstGeom prst="rect">
            <a:avLst/>
          </a:prstGeom>
          <a:noFill/>
        </p:spPr>
        <p:txBody>
          <a:bodyPr wrap="square" anchor="t">
            <a:spAutoFit/>
          </a:bodyPr>
          <a:lstStyle/>
          <a:p>
            <a:pPr algn="ctr"/>
            <a:r>
              <a:rPr sz="1700" b="1">
                <a:solidFill>
                  <a:srgbClr val="192A46"/>
                </a:solidFill>
                <a:latin typeface="Microsoft YaHei"/>
              </a:rPr>
              <a:t>六大共识</a:t>
            </a:r>
          </a:p>
        </p:txBody>
      </p:sp>
      <p:sp>
        <p:nvSpPr>
          <p:cNvPr id="9" name="TextBox 8"/>
          <p:cNvSpPr txBox="1"/>
          <p:nvPr/>
        </p:nvSpPr>
        <p:spPr>
          <a:xfrm>
            <a:off x="804672" y="2496312"/>
            <a:ext cx="3273552" cy="3227832"/>
          </a:xfrm>
          <a:prstGeom prst="rect">
            <a:avLst/>
          </a:prstGeom>
          <a:noFill/>
        </p:spPr>
        <p:txBody>
          <a:bodyPr wrap="square">
            <a:spAutoFit/>
          </a:bodyPr>
          <a:lstStyle/>
          <a:p>
            <a:pPr algn="ctr">
              <a:spcAft>
                <a:spcPts val="600"/>
              </a:spcAft>
            </a:pPr>
            <a:r>
              <a:rPr sz="1400">
                <a:solidFill>
                  <a:srgbClr val="262D38"/>
                </a:solidFill>
                <a:latin typeface="Microsoft YaHei"/>
              </a:rPr>
              <a:t>基础设施比模型更重要。</a:t>
            </a:r>
          </a:p>
          <a:p>
            <a:pPr algn="ctr">
              <a:spcAft>
                <a:spcPts val="600"/>
              </a:spcAft>
            </a:pPr>
            <a:r>
              <a:rPr sz="1400">
                <a:solidFill>
                  <a:srgbClr val="262D38"/>
                </a:solidFill>
                <a:latin typeface="Microsoft YaHei"/>
              </a:rPr>
              <a:t>文档必须活化。</a:t>
            </a:r>
          </a:p>
          <a:p>
            <a:pPr algn="ctr">
              <a:spcAft>
                <a:spcPts val="600"/>
              </a:spcAft>
            </a:pPr>
            <a:r>
              <a:rPr sz="1400">
                <a:solidFill>
                  <a:srgbClr val="262D38"/>
                </a:solidFill>
                <a:latin typeface="Microsoft YaHei"/>
              </a:rPr>
              <a:t>思考与执行必须分离。</a:t>
            </a:r>
          </a:p>
          <a:p>
            <a:pPr algn="ctr">
              <a:spcAft>
                <a:spcPts val="600"/>
              </a:spcAft>
            </a:pPr>
            <a:r>
              <a:rPr sz="1400">
                <a:solidFill>
                  <a:srgbClr val="262D38"/>
                </a:solidFill>
                <a:latin typeface="Microsoft YaHei"/>
              </a:rPr>
              <a:t>上下文不是越多越好。</a:t>
            </a:r>
          </a:p>
          <a:p>
            <a:pPr algn="ctr">
              <a:spcAft>
                <a:spcPts val="600"/>
              </a:spcAft>
            </a:pPr>
            <a:r>
              <a:rPr sz="1400">
                <a:solidFill>
                  <a:srgbClr val="262D38"/>
                </a:solidFill>
                <a:latin typeface="Microsoft YaHei"/>
              </a:rPr>
              <a:t>约束必须自动化执行。</a:t>
            </a:r>
          </a:p>
          <a:p>
            <a:pPr algn="ctr">
              <a:spcAft>
                <a:spcPts val="600"/>
              </a:spcAft>
            </a:pPr>
            <a:r>
              <a:rPr sz="1400">
                <a:solidFill>
                  <a:srgbClr val="262D38"/>
                </a:solidFill>
                <a:latin typeface="Microsoft YaHei"/>
              </a:rPr>
              <a:t>工程师角色正在迁移。</a:t>
            </a:r>
          </a:p>
        </p:txBody>
      </p:sp>
      <p:sp>
        <p:nvSpPr>
          <p:cNvPr id="10" name="Rounded Rectangle 9"/>
          <p:cNvSpPr/>
          <p:nvPr/>
        </p:nvSpPr>
        <p:spPr>
          <a:xfrm>
            <a:off x="4315968" y="1783080"/>
            <a:ext cx="3566160" cy="4069080"/>
          </a:xfrm>
          <a:prstGeom prst="roundRect">
            <a:avLst/>
          </a:prstGeom>
          <a:solidFill>
            <a:srgbClr val="FFFFFF"/>
          </a:solidFill>
          <a:ln w="1524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80560" y="1929384"/>
            <a:ext cx="3236976" cy="54864"/>
          </a:xfrm>
          <a:prstGeom prst="rect">
            <a:avLst/>
          </a:prstGeom>
          <a:solidFill>
            <a:srgbClr val="375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62272" y="2075688"/>
            <a:ext cx="3273552" cy="320040"/>
          </a:xfrm>
          <a:prstGeom prst="rect">
            <a:avLst/>
          </a:prstGeom>
          <a:noFill/>
        </p:spPr>
        <p:txBody>
          <a:bodyPr wrap="square" anchor="t">
            <a:spAutoFit/>
          </a:bodyPr>
          <a:lstStyle/>
          <a:p>
            <a:pPr algn="ctr"/>
            <a:r>
              <a:rPr sz="1700" b="1">
                <a:solidFill>
                  <a:srgbClr val="192A46"/>
                </a:solidFill>
                <a:latin typeface="Microsoft YaHei"/>
              </a:rPr>
              <a:t>四大分歧</a:t>
            </a:r>
          </a:p>
        </p:txBody>
      </p:sp>
      <p:sp>
        <p:nvSpPr>
          <p:cNvPr id="13" name="TextBox 12"/>
          <p:cNvSpPr txBox="1"/>
          <p:nvPr/>
        </p:nvSpPr>
        <p:spPr>
          <a:xfrm>
            <a:off x="4462272" y="2496312"/>
            <a:ext cx="3273552" cy="3227832"/>
          </a:xfrm>
          <a:prstGeom prst="rect">
            <a:avLst/>
          </a:prstGeom>
          <a:noFill/>
        </p:spPr>
        <p:txBody>
          <a:bodyPr wrap="square">
            <a:spAutoFit/>
          </a:bodyPr>
          <a:lstStyle/>
          <a:p>
            <a:pPr algn="ctr">
              <a:spcAft>
                <a:spcPts val="600"/>
              </a:spcAft>
            </a:pPr>
            <a:r>
              <a:rPr sz="1400">
                <a:solidFill>
                  <a:srgbClr val="262D38"/>
                </a:solidFill>
                <a:latin typeface="Microsoft YaHei"/>
              </a:rPr>
              <a:t>Harness 应简化还是精细化。</a:t>
            </a:r>
          </a:p>
          <a:p>
            <a:pPr algn="ctr">
              <a:spcAft>
                <a:spcPts val="600"/>
              </a:spcAft>
            </a:pPr>
            <a:r>
              <a:rPr sz="1400">
                <a:solidFill>
                  <a:srgbClr val="262D38"/>
                </a:solidFill>
                <a:latin typeface="Microsoft YaHei"/>
              </a:rPr>
              <a:t>单 Agent 还是多 Agent。</a:t>
            </a:r>
          </a:p>
          <a:p>
            <a:pPr algn="ctr">
              <a:spcAft>
                <a:spcPts val="600"/>
              </a:spcAft>
            </a:pPr>
            <a:r>
              <a:rPr sz="1400">
                <a:solidFill>
                  <a:srgbClr val="262D38"/>
                </a:solidFill>
                <a:latin typeface="Microsoft YaHei"/>
              </a:rPr>
              <a:t>人类应介入到什么程度。</a:t>
            </a:r>
          </a:p>
          <a:p>
            <a:pPr algn="ctr">
              <a:spcAft>
                <a:spcPts val="600"/>
              </a:spcAft>
            </a:pPr>
            <a:r>
              <a:rPr sz="1400">
                <a:solidFill>
                  <a:srgbClr val="262D38"/>
                </a:solidFill>
                <a:latin typeface="Microsoft YaHei"/>
              </a:rPr>
              <a:t>Harness 与 Prompt / Context 的边界如何定义。</a:t>
            </a:r>
          </a:p>
        </p:txBody>
      </p:sp>
      <p:sp>
        <p:nvSpPr>
          <p:cNvPr id="14" name="Rounded Rectangle 13"/>
          <p:cNvSpPr/>
          <p:nvPr/>
        </p:nvSpPr>
        <p:spPr>
          <a:xfrm>
            <a:off x="7973568" y="1783080"/>
            <a:ext cx="3566160" cy="4069080"/>
          </a:xfrm>
          <a:prstGeom prst="roundRect">
            <a:avLst/>
          </a:prstGeom>
          <a:solidFill>
            <a:srgbClr val="FFFFFF"/>
          </a:solidFill>
          <a:ln w="1524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38160" y="1929384"/>
            <a:ext cx="3236976" cy="54864"/>
          </a:xfrm>
          <a:prstGeom prst="rect">
            <a:avLst/>
          </a:prstGeom>
          <a:solidFill>
            <a:srgbClr val="9C49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19872" y="2075688"/>
            <a:ext cx="3273552" cy="320040"/>
          </a:xfrm>
          <a:prstGeom prst="rect">
            <a:avLst/>
          </a:prstGeom>
          <a:noFill/>
        </p:spPr>
        <p:txBody>
          <a:bodyPr wrap="square" anchor="t">
            <a:spAutoFit/>
          </a:bodyPr>
          <a:lstStyle/>
          <a:p>
            <a:pPr algn="ctr"/>
            <a:r>
              <a:rPr sz="1700" b="1">
                <a:solidFill>
                  <a:srgbClr val="192A46"/>
                </a:solidFill>
                <a:latin typeface="Microsoft YaHei"/>
              </a:rPr>
              <a:t>三大空白区</a:t>
            </a:r>
          </a:p>
        </p:txBody>
      </p:sp>
      <p:sp>
        <p:nvSpPr>
          <p:cNvPr id="17" name="TextBox 16"/>
          <p:cNvSpPr txBox="1"/>
          <p:nvPr/>
        </p:nvSpPr>
        <p:spPr>
          <a:xfrm>
            <a:off x="8119872" y="2496312"/>
            <a:ext cx="3273552" cy="3227832"/>
          </a:xfrm>
          <a:prstGeom prst="rect">
            <a:avLst/>
          </a:prstGeom>
          <a:noFill/>
        </p:spPr>
        <p:txBody>
          <a:bodyPr wrap="square">
            <a:spAutoFit/>
          </a:bodyPr>
          <a:lstStyle/>
          <a:p>
            <a:pPr algn="ctr">
              <a:spcAft>
                <a:spcPts val="600"/>
              </a:spcAft>
            </a:pPr>
            <a:r>
              <a:rPr sz="1400">
                <a:solidFill>
                  <a:srgbClr val="262D38"/>
                </a:solidFill>
                <a:latin typeface="Microsoft YaHei"/>
              </a:rPr>
              <a:t>遗留项目如何改造。</a:t>
            </a:r>
          </a:p>
          <a:p>
            <a:pPr algn="ctr">
              <a:spcAft>
                <a:spcPts val="600"/>
              </a:spcAft>
            </a:pPr>
            <a:r>
              <a:rPr sz="1400">
                <a:solidFill>
                  <a:srgbClr val="262D38"/>
                </a:solidFill>
                <a:latin typeface="Microsoft YaHei"/>
              </a:rPr>
              <a:t>功能与行为验证如何系统化。</a:t>
            </a:r>
          </a:p>
          <a:p>
            <a:pPr algn="ctr">
              <a:spcAft>
                <a:spcPts val="600"/>
              </a:spcAft>
            </a:pPr>
            <a:r>
              <a:rPr sz="1400">
                <a:solidFill>
                  <a:srgbClr val="262D38"/>
                </a:solidFill>
                <a:latin typeface="Microsoft YaHei"/>
              </a:rPr>
              <a:t>AI 生成代码的长期可维护性如何保证。</a:t>
            </a:r>
          </a:p>
        </p:txBody>
      </p:sp>
      <p:sp>
        <p:nvSpPr>
          <p:cNvPr id="18" name="TextBox 17"/>
          <p:cNvSpPr txBox="1"/>
          <p:nvPr/>
        </p:nvSpPr>
        <p:spPr>
          <a:xfrm>
            <a:off x="411480" y="6400800"/>
            <a:ext cx="11155680" cy="182880"/>
          </a:xfrm>
          <a:prstGeom prst="rect">
            <a:avLst/>
          </a:prstGeom>
          <a:noFill/>
        </p:spPr>
        <p:txBody>
          <a:bodyPr wrap="none">
            <a:spAutoFit/>
          </a:bodyPr>
          <a:lstStyle/>
          <a:p>
            <a:pPr algn="r"/>
            <a:r>
              <a:rPr sz="900">
                <a:solidFill>
                  <a:srgbClr val="6C788A"/>
                </a:solidFill>
                <a:latin typeface="Aptos"/>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92A46"/>
        </a:solidFill>
        <a:effectLst/>
      </p:bgPr>
    </p:bg>
    <p:spTree>
      <p:nvGrpSpPr>
        <p:cNvPr id="1" name=""/>
        <p:cNvGrpSpPr/>
        <p:nvPr/>
      </p:nvGrpSpPr>
      <p:grpSpPr/>
      <p:sp>
        <p:nvSpPr>
          <p:cNvPr id="2" name="TextBox 1"/>
          <p:cNvSpPr txBox="1"/>
          <p:nvPr/>
        </p:nvSpPr>
        <p:spPr>
          <a:xfrm>
            <a:off x="1051560" y="1234440"/>
            <a:ext cx="10058400" cy="502920"/>
          </a:xfrm>
          <a:prstGeom prst="rect">
            <a:avLst/>
          </a:prstGeom>
          <a:noFill/>
        </p:spPr>
        <p:txBody>
          <a:bodyPr wrap="square" anchor="t">
            <a:spAutoFit/>
          </a:bodyPr>
          <a:lstStyle/>
          <a:p>
            <a:pPr algn="ctr"/>
            <a:r>
              <a:rPr sz="1200" b="1">
                <a:solidFill>
                  <a:srgbClr val="BC9142"/>
                </a:solidFill>
                <a:latin typeface="Aptos"/>
              </a:rPr>
              <a:t>总结</a:t>
            </a:r>
          </a:p>
        </p:txBody>
      </p:sp>
      <p:sp>
        <p:nvSpPr>
          <p:cNvPr id="3" name="TextBox 2"/>
          <p:cNvSpPr txBox="1"/>
          <p:nvPr/>
        </p:nvSpPr>
        <p:spPr>
          <a:xfrm>
            <a:off x="914400" y="1828800"/>
            <a:ext cx="10332720" cy="822960"/>
          </a:xfrm>
          <a:prstGeom prst="rect">
            <a:avLst/>
          </a:prstGeom>
          <a:noFill/>
        </p:spPr>
        <p:txBody>
          <a:bodyPr wrap="square" anchor="t">
            <a:spAutoFit/>
          </a:bodyPr>
          <a:lstStyle/>
          <a:p>
            <a:pPr algn="ctr"/>
            <a:r>
              <a:rPr sz="2600" b="1">
                <a:solidFill>
                  <a:srgbClr val="FFFFFF"/>
                </a:solidFill>
                <a:latin typeface="Microsoft YaHei"/>
              </a:rPr>
              <a:t>Harness Engineering 标志着软件工程关注点的迁移</a:t>
            </a:r>
          </a:p>
        </p:txBody>
      </p:sp>
      <p:sp>
        <p:nvSpPr>
          <p:cNvPr id="4" name="TextBox 3"/>
          <p:cNvSpPr txBox="1"/>
          <p:nvPr/>
        </p:nvSpPr>
        <p:spPr>
          <a:xfrm>
            <a:off x="1097280" y="2743200"/>
            <a:ext cx="9966960" cy="1645920"/>
          </a:xfrm>
          <a:prstGeom prst="rect">
            <a:avLst/>
          </a:prstGeom>
          <a:noFill/>
        </p:spPr>
        <p:txBody>
          <a:bodyPr wrap="square" anchor="t">
            <a:spAutoFit/>
          </a:bodyPr>
          <a:lstStyle/>
          <a:p>
            <a:pPr algn="ctr"/>
            <a:r>
              <a:rPr sz="2400" b="1">
                <a:solidFill>
                  <a:srgbClr val="FFFFFF"/>
                </a:solidFill>
                <a:latin typeface="Microsoft YaHei"/>
              </a:rPr>
              <a:t>从“让模型写代码”
转向“设计让模型稳定、可靠、可持续工作的系统”</a:t>
            </a:r>
          </a:p>
        </p:txBody>
      </p:sp>
      <p:sp>
        <p:nvSpPr>
          <p:cNvPr id="5" name="TextBox 4"/>
          <p:cNvSpPr txBox="1"/>
          <p:nvPr/>
        </p:nvSpPr>
        <p:spPr>
          <a:xfrm>
            <a:off x="1828800" y="4754880"/>
            <a:ext cx="8503920" cy="731520"/>
          </a:xfrm>
          <a:prstGeom prst="rect">
            <a:avLst/>
          </a:prstGeom>
          <a:noFill/>
        </p:spPr>
        <p:txBody>
          <a:bodyPr wrap="square" anchor="t">
            <a:spAutoFit/>
          </a:bodyPr>
          <a:lstStyle/>
          <a:p>
            <a:pPr algn="ctr"/>
            <a:r>
              <a:rPr sz="1800" b="0">
                <a:solidFill>
                  <a:srgbClr val="DCE4ED"/>
                </a:solidFill>
                <a:latin typeface="Microsoft YaHei"/>
              </a:rPr>
              <a:t>一句话结论：模型越强，Harness 往往越重要。</a:t>
            </a:r>
          </a:p>
        </p:txBody>
      </p:sp>
      <p:sp>
        <p:nvSpPr>
          <p:cNvPr id="6" name="TextBox 5"/>
          <p:cNvSpPr txBox="1"/>
          <p:nvPr/>
        </p:nvSpPr>
        <p:spPr>
          <a:xfrm>
            <a:off x="411480" y="6400800"/>
            <a:ext cx="11155680" cy="182880"/>
          </a:xfrm>
          <a:prstGeom prst="rect">
            <a:avLst/>
          </a:prstGeom>
          <a:noFill/>
        </p:spPr>
        <p:txBody>
          <a:bodyPr wrap="none">
            <a:spAutoFit/>
          </a:bodyPr>
          <a:lstStyle/>
          <a:p>
            <a:pPr algn="r"/>
            <a:r>
              <a:rPr sz="900">
                <a:solidFill>
                  <a:srgbClr val="6C788A"/>
                </a:solidFill>
                <a:latin typeface="Aptos"/>
              </a:rPr>
              <a:t>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