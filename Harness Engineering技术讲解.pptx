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2651760" cy="310896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694944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213E"/>
                </a:solidFill>
                <a:latin typeface="Microsoft YaHei"/>
              </a:rPr>
              <a:t>AI Agent 工程化专题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53312"/>
            <a:ext cx="10241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Harness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029968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让模型可靠工作的系统设计，而不只是让模型会写代码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07792"/>
            <a:ext cx="8595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6DFE6"/>
                </a:solidFill>
                <a:latin typeface="Microsoft YaHei"/>
              </a:rPr>
              <a:t>基于《Harness Engineering.md》整理
适合技术分享、团队培训和 AI Agent 工程实践导入</a:t>
            </a:r>
          </a:p>
        </p:txBody>
      </p:sp>
      <p:sp>
        <p:nvSpPr>
          <p:cNvPr id="7" name="Oval 6"/>
          <p:cNvSpPr/>
          <p:nvPr/>
        </p:nvSpPr>
        <p:spPr>
          <a:xfrm>
            <a:off x="9052560" y="914400"/>
            <a:ext cx="2103120" cy="2103120"/>
          </a:xfrm>
          <a:prstGeom prst="ellipse">
            <a:avLst/>
          </a:prstGeom>
          <a:solidFill>
            <a:srgbClr val="13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0" y="2240280"/>
            <a:ext cx="1234440" cy="1234440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98280" y="1536192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Prompt
Context
Harness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1908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C7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13E"/>
                </a:solidFill>
                <a:latin typeface="Microsoft YaHei"/>
              </a:rPr>
              <a:t>本次讲解结构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88720"/>
            <a:ext cx="640080" cy="438912"/>
          </a:xfrm>
          <a:prstGeom prst="roundRect">
            <a:avLst/>
          </a:prstGeom>
          <a:solidFill>
            <a:srgbClr val="13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71016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20700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73043"/>
                </a:solidFill>
                <a:latin typeface="Microsoft YaHei"/>
              </a:rPr>
              <a:t>定义与背景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234440"/>
            <a:ext cx="6309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06C7A"/>
                </a:solidFill>
                <a:latin typeface="Microsoft YaHei"/>
              </a:rPr>
              <a:t>为什么它在 2026 年迅速升温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93392"/>
            <a:ext cx="640080" cy="438912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75688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011680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73043"/>
                </a:solidFill>
                <a:latin typeface="Microsoft YaHei"/>
              </a:rPr>
              <a:t>为什么需要它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039112"/>
            <a:ext cx="6309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06C7A"/>
                </a:solidFill>
                <a:latin typeface="Microsoft YaHei"/>
              </a:rPr>
              <a:t>模型不再是主要瓶颈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798064"/>
            <a:ext cx="640080" cy="438912"/>
          </a:xfrm>
          <a:prstGeom prst="round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80360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81635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73043"/>
                </a:solidFill>
                <a:latin typeface="Microsoft YaHei"/>
              </a:rPr>
              <a:t>四大支柱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843784"/>
            <a:ext cx="6309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06C7A"/>
                </a:solidFill>
                <a:latin typeface="Microsoft YaHei"/>
              </a:rPr>
              <a:t>上下文、专业化、记忆、执行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602736"/>
            <a:ext cx="640080" cy="438912"/>
          </a:xfrm>
          <a:prstGeom prst="round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68503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621024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73043"/>
                </a:solidFill>
                <a:latin typeface="Microsoft YaHei"/>
              </a:rPr>
              <a:t>最佳实践案例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648456"/>
            <a:ext cx="6309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06C7A"/>
                </a:solidFill>
                <a:latin typeface="Microsoft YaHei"/>
              </a:rPr>
              <a:t>OpenAI、Anthropic、Stripe 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407408"/>
            <a:ext cx="640080" cy="43891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489704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425696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73043"/>
                </a:solidFill>
                <a:latin typeface="Microsoft YaHei"/>
              </a:rPr>
              <a:t>落地方法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4453128"/>
            <a:ext cx="6309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06C7A"/>
                </a:solidFill>
                <a:latin typeface="Microsoft YaHei"/>
              </a:rPr>
              <a:t>组件、成熟度、行动清单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212080"/>
            <a:ext cx="640080" cy="438912"/>
          </a:xfrm>
          <a:prstGeom prst="roundRect">
            <a:avLst/>
          </a:prstGeom>
          <a:solidFill>
            <a:srgbClr val="A6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294376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230368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73043"/>
                </a:solidFill>
                <a:latin typeface="Microsoft YaHei"/>
              </a:rPr>
              <a:t>开放问题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5257800"/>
            <a:ext cx="6309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06C7A"/>
                </a:solidFill>
                <a:latin typeface="Microsoft YaHei"/>
              </a:rPr>
              <a:t>分歧、空白区与下一步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1417320"/>
            <a:ext cx="30175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80" y="173736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37C8B"/>
                </a:solidFill>
                <a:latin typeface="Microsoft YaHei"/>
              </a:rPr>
              <a:t>核心判断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240280"/>
            <a:ext cx="2514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6213E"/>
                </a:solidFill>
                <a:latin typeface="Microsoft YaHei"/>
              </a:rPr>
              <a:t>瓶颈不在模型，
而在让模型
可靠工作的
基础设施。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1908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C7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3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949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13E"/>
                </a:solidFill>
                <a:latin typeface="Microsoft YaHei"/>
              </a:rPr>
              <a:t>什么是 Harness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73043"/>
                </a:solidFill>
                <a:latin typeface="Microsoft YaHei"/>
              </a:rPr>
              <a:t>它关注的是围绕 AI Agent 设计约束、反馈回路、工作流控制与持续改进机制，目标是提升可靠性、一致性与长期可维护性。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47088"/>
            <a:ext cx="352044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847088"/>
            <a:ext cx="91440" cy="20574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33009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13E"/>
                </a:solidFill>
                <a:latin typeface="Microsoft YaHei"/>
              </a:rPr>
              <a:t>为什么叫 Harness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322576"/>
            <a:ext cx="3300984" cy="149047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Harness 原意是马具，强调“引导力量”而不是制造力量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LLM 像一匹很有冲劲但方向感不稳定的马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Harness 的任务是把能力导向正确方向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47088"/>
            <a:ext cx="352044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847088"/>
            <a:ext cx="91440" cy="2057400"/>
          </a:xfrm>
          <a:prstGeom prst="rect">
            <a:avLst/>
          </a:prstGeom>
          <a:solidFill>
            <a:srgbClr val="13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956816"/>
            <a:ext cx="33009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13E"/>
                </a:solidFill>
                <a:latin typeface="Microsoft YaHei"/>
              </a:rPr>
              <a:t>它解决什么问题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5696" y="2322576"/>
            <a:ext cx="3300984" cy="149047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Agent 会写代码，不等于会稳定交付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需要控制上下文污染、错误复现、任务边界和验证闭环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重点从“生成”转向“系统级可控”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847088"/>
            <a:ext cx="352044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847088"/>
            <a:ext cx="91440" cy="205740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56816"/>
            <a:ext cx="33009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13E"/>
                </a:solidFill>
                <a:latin typeface="Microsoft YaHei"/>
              </a:rPr>
              <a:t>与 Prompt / Context 的关系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4736" y="2322576"/>
            <a:ext cx="3300984" cy="149047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Prompt：怎么说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Context：给它看什么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Harness：整个系统如何防错、量化和修复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708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06C7A"/>
                </a:solidFill>
                <a:latin typeface="Microsoft YaHei"/>
              </a:rPr>
              <a:t>一个常用比喻：模型像 CPU，Harness 像操作系统。CPU 再强，没有 OS 也无法稳定发挥。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1908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C7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13E"/>
                </a:solidFill>
                <a:latin typeface="Microsoft YaHei"/>
              </a:rPr>
              <a:t>为什么现在必须重视它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70432"/>
            <a:ext cx="21488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37C8B"/>
                </a:solidFill>
                <a:latin typeface="Aptos"/>
              </a:rPr>
              <a:t>6.7% → 68.3%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700784"/>
            <a:ext cx="20025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06C7A"/>
                </a:solidFill>
                <a:latin typeface="Microsoft YaHei"/>
              </a:rPr>
              <a:t>仅改工具接口格式，Grok Code Fast 1 基准分显著提升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170432"/>
            <a:ext cx="21488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07792" y="128016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07A5F"/>
                </a:solidFill>
                <a:latin typeface="Aptos"/>
              </a:rPr>
              <a:t>第30 → 第5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80944" y="1700784"/>
            <a:ext cx="20025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06C7A"/>
                </a:solidFill>
                <a:latin typeface="Microsoft YaHei"/>
              </a:rPr>
              <a:t>LangChain 仅改 Harness，在 Terminal Bench 2.0 排名大幅上升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21224" y="1170432"/>
            <a:ext cx="21488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21224" y="128016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D9A441"/>
                </a:solidFill>
                <a:latin typeface="Aptos"/>
              </a:rPr>
              <a:t>~40%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94376" y="1700784"/>
            <a:ext cx="20025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06C7A"/>
                </a:solidFill>
                <a:latin typeface="Microsoft YaHei"/>
              </a:rPr>
              <a:t>上下文利用率的“甜蜜区间”，再多不一定更好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34656" y="1170432"/>
            <a:ext cx="21488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34656" y="128016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6213E"/>
                </a:solidFill>
                <a:latin typeface="Aptos"/>
              </a:rPr>
              <a:t>5个团队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1700784"/>
            <a:ext cx="20025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06C7A"/>
                </a:solidFill>
                <a:latin typeface="Microsoft YaHei"/>
              </a:rPr>
              <a:t>独立案例都指向同一结论：基础设施是瓶颈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606040"/>
            <a:ext cx="5394960" cy="2651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2606040"/>
            <a:ext cx="91440" cy="2651760"/>
          </a:xfrm>
          <a:prstGeom prst="rect">
            <a:avLst/>
          </a:prstGeom>
          <a:solidFill>
            <a:srgbClr val="13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2715768"/>
            <a:ext cx="51755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13E"/>
                </a:solidFill>
                <a:latin typeface="Microsoft YaHei"/>
              </a:rPr>
              <a:t>为什么模型强了，反而更需要 Harness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3081528"/>
            <a:ext cx="5175504" cy="20848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更强模型意味着更长任务链、更大改动面、更高并行度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没有约束时，错误会以更快速度扩散到代码库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工程系统必须把“偶发成功”变成“可重复交付”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2606040"/>
            <a:ext cx="5394960" cy="2651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2" y="2606040"/>
            <a:ext cx="91440" cy="265176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715768"/>
            <a:ext cx="51755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13E"/>
                </a:solidFill>
                <a:latin typeface="Microsoft YaHei"/>
              </a:rPr>
              <a:t>一个常见误区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081528"/>
            <a:ext cx="5175504" cy="208483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误区：给 Agent 更多工具、更多 token、更多文档就会更聪明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现实：信息堆叠会导致幻觉、循环调用、格式错误和低质量代码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关键不是更多，而是更准、更分层、更可验证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1908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C7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13E"/>
                </a:solidFill>
                <a:latin typeface="Microsoft YaHei"/>
              </a:rPr>
              <a:t>Agent 最常见的 4 类翻车模式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4983480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91440" cy="2084831"/>
          </a:xfrm>
          <a:prstGeom prst="rect">
            <a:avLst/>
          </a:prstGeom>
          <a:solidFill>
            <a:srgbClr val="13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344168"/>
            <a:ext cx="47640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13E"/>
                </a:solidFill>
                <a:latin typeface="Microsoft YaHei"/>
              </a:rPr>
              <a:t>一把梭 One-shot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709928"/>
            <a:ext cx="4764024" cy="1517903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一次想做完全部事情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上下文耗尽后只剩半成品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新会话很难恢复状态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234440"/>
            <a:ext cx="4983480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234440"/>
            <a:ext cx="91440" cy="2084831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53912" y="1344168"/>
            <a:ext cx="47640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13E"/>
                </a:solidFill>
                <a:latin typeface="Microsoft YaHei"/>
              </a:rPr>
              <a:t>过早宣布胜利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8" y="1709928"/>
            <a:ext cx="4764024" cy="1517903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看到局部进展就认定任务完成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忽略未实现功能与边界条件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容易造成虚假进度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730752"/>
            <a:ext cx="4983480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730752"/>
            <a:ext cx="91440" cy="2084831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840480"/>
            <a:ext cx="47640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13E"/>
                </a:solidFill>
                <a:latin typeface="Microsoft YaHei"/>
              </a:rPr>
              <a:t>写完即算完成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206240"/>
            <a:ext cx="4764024" cy="1517903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只验证单点，不做端到端检查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curl 或单测通过，不等于用户可用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功能正确性常被高估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3730752"/>
            <a:ext cx="4983480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3730752"/>
            <a:ext cx="91440" cy="2084831"/>
          </a:xfrm>
          <a:prstGeom prst="rect">
            <a:avLst/>
          </a:prstGeom>
          <a:solidFill>
            <a:srgbClr val="A6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3912" y="3840480"/>
            <a:ext cx="47640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13E"/>
                </a:solidFill>
                <a:latin typeface="Microsoft YaHei"/>
              </a:rPr>
              <a:t>环境冷启动困难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8" y="4206240"/>
            <a:ext cx="4764024" cy="1517903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每个新会话都要重新摸清项目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大量 token 消耗在启动而不是开发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环境信息如果不落盘就无法继承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1908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C7A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30352"/>
            <a:ext cx="7132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Harness Engineering 的四大支柱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78992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6DFE6"/>
                </a:solidFill>
                <a:latin typeface="Microsoft YaHei"/>
              </a:rPr>
              <a:t>这四类模式在 OpenAI、Anthropic、Stripe、Hashimoto 等实践中反复出现。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544068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9476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37C8B"/>
                </a:solidFill>
                <a:latin typeface="Microsoft YaHei"/>
              </a:rPr>
              <a:t>01 上下文架构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42316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73043"/>
                </a:solidFill>
                <a:latin typeface="Microsoft YaHei"/>
              </a:rPr>
              <a:t>只给当前任务所需信息
避免上下文堆满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783080"/>
            <a:ext cx="544068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2" y="19476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07A5F"/>
                </a:solidFill>
                <a:latin typeface="Microsoft YaHei"/>
              </a:rPr>
              <a:t>02 Agent 专业化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1072" y="242316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73043"/>
                </a:solidFill>
                <a:latin typeface="Microsoft YaHei"/>
              </a:rPr>
              <a:t>小而专的角色分工
优于全能型大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794760"/>
            <a:ext cx="544068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95935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D9A441"/>
                </a:solidFill>
                <a:latin typeface="Microsoft YaHei"/>
              </a:rPr>
              <a:t>03 持久化记忆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443484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73043"/>
                </a:solidFill>
                <a:latin typeface="Microsoft YaHei"/>
              </a:rPr>
              <a:t>把进度写入文件系统
而不是留在会话窗口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794760"/>
            <a:ext cx="544068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395935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A7C59"/>
                </a:solidFill>
                <a:latin typeface="Microsoft YaHei"/>
              </a:rPr>
              <a:t>04 结构化执行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443484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73043"/>
                </a:solidFill>
                <a:latin typeface="Microsoft YaHei"/>
              </a:rPr>
              <a:t>研究、规划、执行、验证分离
靠测试与 CI 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1908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C7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3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13E"/>
                </a:solidFill>
                <a:latin typeface="Microsoft YaHei"/>
              </a:rPr>
              <a:t>支柱一 + 二：上下文架构与 Agent 专业化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" y="1170432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" y="1170432"/>
            <a:ext cx="91440" cy="4389120"/>
          </a:xfrm>
          <a:prstGeom prst="rect">
            <a:avLst/>
          </a:prstGeom>
          <a:solidFill>
            <a:srgbClr val="13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280160"/>
            <a:ext cx="49926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13E"/>
                </a:solidFill>
                <a:latin typeface="Microsoft YaHei"/>
              </a:rPr>
              <a:t>分层上下文：不要把所有信息塞进一个文件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45920"/>
            <a:ext cx="4992624" cy="38221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Tier 1 会话常驻：AGENTS.md / 项目结构 / 工作约束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Tier 2 按需加载：特定角色、领域知识、子 Agent 上下文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Tier 3 持久知识库：研究文档、历史记录、规范说明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经验规律：上下文利用率尽量压在 40% 以内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3328" y="1170432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53328" y="1170432"/>
            <a:ext cx="91440" cy="438912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280160"/>
            <a:ext cx="49926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13E"/>
                </a:solidFill>
                <a:latin typeface="Microsoft YaHei"/>
              </a:rPr>
              <a:t>专业化角色：让每个 Agent 在 Smart Zone 里工作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3056" y="1645920"/>
            <a:ext cx="4992624" cy="38221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研究 Agent：只读探索代码与实现细节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规划 Agent：把需求拆成结构化任务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执行 Agent：在限定写权限内落地改动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审查 / 调试 / 清理 Agent：负责发现问题、修复问题和清理熵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71500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06C7A"/>
                </a:solidFill>
                <a:latin typeface="Microsoft YaHei"/>
              </a:rPr>
              <a:t>本质上，专业化不只是组织设计，更是一种上下文管理策略。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1908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C7A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13E"/>
                </a:solidFill>
                <a:latin typeface="Microsoft YaHei"/>
              </a:rPr>
              <a:t>支柱三 + 四：持久化记忆与结构化执行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" y="1143000"/>
            <a:ext cx="5266944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" y="1143000"/>
            <a:ext cx="91440" cy="452628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252728"/>
            <a:ext cx="50474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13E"/>
                </a:solidFill>
                <a:latin typeface="Microsoft YaHei"/>
              </a:rPr>
              <a:t>持久化记忆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18488"/>
            <a:ext cx="5047488" cy="395935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把进度、feature 状态、启动脚本、关键决策写进仓库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Anthropic 的做法：init.sh + progress 文件 + 初始 git 提交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后续每次会话都先读 git log、进度文件、feature list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实践经验：结构化 JSON 往往比自由 Markdown 更稳定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7608" y="1143000"/>
            <a:ext cx="5266944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07608" y="1143000"/>
            <a:ext cx="91440" cy="452628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252728"/>
            <a:ext cx="50474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13E"/>
                </a:solidFill>
                <a:latin typeface="Microsoft YaHei"/>
              </a:rPr>
              <a:t>结构化执行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7336" y="1618488"/>
            <a:ext cx="5047488" cy="395935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固定顺序：理解 → 规划 → 执行 → 验证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计划先审查，再允许大规模代码生成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验证靠测试、Linter、CI 和人工审查闭环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目标是让错误在 500 行代码生成前就被发现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1908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C7A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13E"/>
                </a:solidFill>
                <a:latin typeface="Microsoft YaHei"/>
              </a:rPr>
              <a:t>代表性实践案例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170432"/>
          <a:ext cx="1106424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154680"/>
                <a:gridCol w="6355080"/>
              </a:tblGrid>
              <a:tr h="8763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团队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关键数据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最值得记住的 Harness 做法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>
                          <a:solidFill>
                            <a:srgbClr val="273043"/>
                          </a:solidFill>
                          <a:latin typeface="Microsoft YaHei"/>
                        </a:rP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>
                          <a:solidFill>
                            <a:srgbClr val="273043"/>
                          </a:solidFill>
                          <a:latin typeface="Microsoft YaHei"/>
                        </a:rPr>
                        <a:t>3 工程师，5 个月，约 100 万行代码，约 1500 PR，手写代码 0 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>
                          <a:solidFill>
                            <a:srgbClr val="273043"/>
                          </a:solidFill>
                          <a:latin typeface="Microsoft YaHei"/>
                        </a:rPr>
                        <a:t>把架构约束机械化；仓库成为唯一事实源；连接浏览器与可观测性；定期垃圾回收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>
                          <a:solidFill>
                            <a:srgbClr val="273043"/>
                          </a:solidFill>
                          <a:latin typeface="Microsoft YaHei"/>
                        </a:rPr>
                        <a:t>Anthropic / Carlini</a:t>
                      </a:r>
                    </a:p>
                  </a:txBody>
                  <a:tcPr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>
                          <a:solidFill>
                            <a:srgbClr val="273043"/>
                          </a:solidFill>
                          <a:latin typeface="Microsoft YaHei"/>
                        </a:rPr>
                        <a:t>16 个 Agent，约 2 周，10 万行 Rust，GCC torture test 99%，成本约 $20k</a:t>
                      </a:r>
                    </a:p>
                  </a:txBody>
                  <a:tcPr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>
                          <a:solidFill>
                            <a:srgbClr val="273043"/>
                          </a:solidFill>
                          <a:latin typeface="Microsoft YaHei"/>
                        </a:rPr>
                        <a:t>限制控制台污染；测试子采样；角色专业化；更严格 CI 反制回归</a:t>
                      </a:r>
                    </a:p>
                  </a:txBody>
                  <a:tcPr>
                    <a:solidFill>
                      <a:srgbClr val="FFFBF5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>
                          <a:solidFill>
                            <a:srgbClr val="273043"/>
                          </a:solidFill>
                          <a:latin typeface="Microsoft YaHei"/>
                        </a:rPr>
                        <a:t>Anthropic 长时运行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>
                          <a:solidFill>
                            <a:srgbClr val="273043"/>
                          </a:solidFill>
                          <a:latin typeface="Microsoft YaHei"/>
                        </a:rPr>
                        <a:t>关注跨会话连续性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>
                          <a:solidFill>
                            <a:srgbClr val="273043"/>
                          </a:solidFill>
                          <a:latin typeface="Microsoft YaHei"/>
                        </a:rPr>
                        <a:t>初始化 Agent 建环境，编码 Agent 做增量并落盘进度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>
                          <a:solidFill>
                            <a:srgbClr val="273043"/>
                          </a:solidFill>
                          <a:latin typeface="Microsoft YaHei"/>
                        </a:rPr>
                        <a:t>Stripe Minions</a:t>
                      </a:r>
                    </a:p>
                  </a:txBody>
                  <a:tcPr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>
                          <a:solidFill>
                            <a:srgbClr val="273043"/>
                          </a:solidFill>
                          <a:latin typeface="Microsoft YaHei"/>
                        </a:rPr>
                        <a:t>Slack 发任务，Agent 生成代码、跑 CI、提 PR</a:t>
                      </a:r>
                    </a:p>
                  </a:txBody>
                  <a:tcPr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>
                          <a:solidFill>
                            <a:srgbClr val="273043"/>
                          </a:solidFill>
                          <a:latin typeface="Microsoft YaHei"/>
                        </a:rPr>
                        <a:t>统一 MCP 工具平台 + 隔离 Devbox，让 Agent 成为一等工程公民</a:t>
                      </a:r>
                    </a:p>
                  </a:txBody>
                  <a:tcPr>
                    <a:solidFill>
                      <a:srgbClr val="FFFBF5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>
                          <a:solidFill>
                            <a:srgbClr val="273043"/>
                          </a:solidFill>
                          <a:latin typeface="Microsoft YaHei"/>
                        </a:rPr>
                        <a:t>Hashimoto / Huntley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>
                          <a:solidFill>
                            <a:srgbClr val="273043"/>
                          </a:solidFill>
                          <a:latin typeface="Microsoft YaHei"/>
                        </a:rPr>
                        <a:t>从夜间 Agent 到无人工审查循环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50">
                          <a:solidFill>
                            <a:srgbClr val="273043"/>
                          </a:solidFill>
                          <a:latin typeface="Microsoft YaHei"/>
                        </a:rPr>
                        <a:t>把每次失败沉淀进 AGENTS.md；靠上游/下游 backpressure 管住输出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41908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C7A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3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13E"/>
                </a:solidFill>
                <a:latin typeface="Microsoft YaHei"/>
              </a:rPr>
              <a:t>一套好 Harness 的关键组件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225296"/>
            <a:ext cx="534924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225296"/>
            <a:ext cx="91440" cy="4526280"/>
          </a:xfrm>
          <a:prstGeom prst="rect">
            <a:avLst/>
          </a:prstGeom>
          <a:solidFill>
            <a:srgbClr val="13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35024"/>
            <a:ext cx="51297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13E"/>
                </a:solidFill>
                <a:latin typeface="Microsoft YaHei"/>
              </a:rPr>
              <a:t>P0 / P1 先建起来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00784"/>
            <a:ext cx="5129784" cy="395935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AGENTS.md / CLAUDE.md：常驻上下文与失败经验沉淀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自定义 Linter + 结构测试：把架构约束机械化执行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CI/CD 管道：自动化验证与回归拦截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progress.txt / JSON：跨会话的持久化记忆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feature_list.json：功能完成标准与优先级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25296"/>
            <a:ext cx="534924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25296"/>
            <a:ext cx="91440" cy="452628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335024"/>
            <a:ext cx="51297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13E"/>
                </a:solidFill>
                <a:latin typeface="Microsoft YaHei"/>
              </a:rPr>
              <a:t>P1 / P2 持续补强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00784"/>
            <a:ext cx="5129784" cy="395935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Puppeteer MCP：端到端浏览器验证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日志 / 指标 / Trace：让 Agent 能看见系统行为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Entropy 管理 Agent：定期清理低质量代码与文档漂移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专业化子 Agent：减少上下文污染与权限失控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MCP 工具层：连接外部系统、数据与内部平台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1908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C7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7315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工程师角色正在改变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51560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6DFE6"/>
                </a:solidFill>
                <a:latin typeface="Microsoft YaHei"/>
              </a:rPr>
              <a:t>从“写更多代码”转向“设计更好的环境与管理更稳定的工作流”。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37360"/>
            <a:ext cx="352044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37360"/>
            <a:ext cx="91440" cy="3474720"/>
          </a:xfrm>
          <a:prstGeom prst="rect">
            <a:avLst/>
          </a:prstGeom>
          <a:solidFill>
            <a:srgbClr val="13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47088"/>
            <a:ext cx="33009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13E"/>
                </a:solidFill>
                <a:latin typeface="Microsoft YaHei"/>
              </a:rPr>
              <a:t>角色转变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212848"/>
            <a:ext cx="3300984" cy="29077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从实现者转向环境设计者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当 Agent 卡住时，先诊断环境缺什么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重点是赋能，而不是亲自补代码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737360"/>
            <a:ext cx="352044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5112" y="1737360"/>
            <a:ext cx="91440" cy="347472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4" y="1847088"/>
            <a:ext cx="33009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13E"/>
                </a:solidFill>
                <a:latin typeface="Microsoft YaHei"/>
              </a:rPr>
              <a:t>角色转变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212848"/>
            <a:ext cx="3300984" cy="29077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规划成为新的编码能力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好计划比事后审代码更便宜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团队需要会写“能被 Agent 执行的规范”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6" y="1737360"/>
            <a:ext cx="352044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91856" y="1737360"/>
            <a:ext cx="91440" cy="347472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1847088"/>
            <a:ext cx="33009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13E"/>
                </a:solidFill>
                <a:latin typeface="Microsoft YaHei"/>
              </a:rPr>
              <a:t>角色转变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4" y="2212848"/>
            <a:ext cx="3300984" cy="2907792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管理风格会分化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有人倾向深度参与单 Agent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有人倾向无人值守、多 Agent 并行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532120"/>
            <a:ext cx="105156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6DFE6"/>
                </a:solidFill>
                <a:latin typeface="Microsoft YaHei"/>
              </a:rPr>
              <a:t>决定团队站在哪一侧的，不只是文化偏好，更是 Harness 成熟度与对 Agent 的信任程度。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1908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C7A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13E"/>
                </a:solidFill>
                <a:latin typeface="Microsoft YaHei"/>
              </a:rPr>
              <a:t>Harness 成熟度模型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72768"/>
            <a:ext cx="21488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8308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606C7A"/>
                </a:solidFill>
                <a:latin typeface="Aptos"/>
              </a:rPr>
              <a:t>L0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67712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213E"/>
                </a:solidFill>
                <a:latin typeface="Microsoft YaHei"/>
              </a:rPr>
              <a:t>无 Harness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907792"/>
            <a:ext cx="187451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73043"/>
                </a:solidFill>
                <a:latin typeface="Microsoft YaHei"/>
              </a:rPr>
              <a:t>直接给 prompt，基本靠人盯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4368" y="1572768"/>
            <a:ext cx="21488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35808" y="178308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37C8B"/>
                </a:solidFill>
                <a:latin typeface="Aptos"/>
              </a:rPr>
              <a:t>L1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2267712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213E"/>
                </a:solidFill>
                <a:latin typeface="Microsoft YaHei"/>
              </a:rPr>
              <a:t>基础约束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7" y="2907792"/>
            <a:ext cx="187451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73043"/>
                </a:solidFill>
                <a:latin typeface="Microsoft YaHei"/>
              </a:rPr>
              <a:t>AGENTS.md + 基础 Linter + 手动测试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0368" y="1572768"/>
            <a:ext cx="21488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1807" y="178308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E07A5F"/>
                </a:solidFill>
                <a:latin typeface="Aptos"/>
              </a:rPr>
              <a:t>L2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7" y="2267712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213E"/>
                </a:solidFill>
                <a:latin typeface="Microsoft YaHei"/>
              </a:rPr>
              <a:t>反馈回路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8" y="2907792"/>
            <a:ext cx="187451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73043"/>
                </a:solidFill>
                <a:latin typeface="Microsoft YaHei"/>
              </a:rPr>
              <a:t>CI/CD + 自动化测试 + 进度追踪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16367" y="1572768"/>
            <a:ext cx="21488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7807" y="178308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D9A441"/>
                </a:solidFill>
                <a:latin typeface="Aptos"/>
              </a:rPr>
              <a:t>L3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7" y="2267712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213E"/>
                </a:solidFill>
                <a:latin typeface="Microsoft YaHei"/>
              </a:rPr>
              <a:t>专业化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7" y="2907792"/>
            <a:ext cx="187451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73043"/>
                </a:solidFill>
                <a:latin typeface="Microsoft YaHei"/>
              </a:rPr>
              <a:t>分层上下文 + 持久化记忆 + 角色分工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02367" y="1572768"/>
            <a:ext cx="21488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93807" y="178308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A7C59"/>
                </a:solidFill>
                <a:latin typeface="Aptos"/>
              </a:rPr>
              <a:t>L4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93807" y="2267712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213E"/>
                </a:solidFill>
                <a:latin typeface="Microsoft YaHei"/>
              </a:rPr>
              <a:t>自治循环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9528" y="2907792"/>
            <a:ext cx="187451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73043"/>
                </a:solidFill>
                <a:latin typeface="Microsoft YaHei"/>
              </a:rPr>
              <a:t>无人值守并行化 + 熵管理 + 自修复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5778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06C7A"/>
                </a:solidFill>
                <a:latin typeface="Microsoft YaHei"/>
              </a:rPr>
              <a:t>建议多数团队先把 L1 和 L2 做扎实，再考虑大规模多 Agent 并行。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1908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C7A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6949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13E"/>
                </a:solidFill>
                <a:latin typeface="Microsoft YaHei"/>
              </a:rPr>
              <a:t>如果你们现在就要开始，优先做这 7 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424160" cy="4480560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>
                <a:solidFill>
                  <a:srgbClr val="273043"/>
                </a:solidFill>
                <a:latin typeface="Microsoft YaHei"/>
              </a:rPr>
              <a:t>创建并持续维护 AGENTS.md，把每次失败转成明确约束</a:t>
            </a:r>
          </a:p>
          <a:p>
            <a:pPr algn="l">
              <a:spcAft>
                <a:spcPts val="700"/>
              </a:spcAft>
            </a:pPr>
            <a:r>
              <a:rPr sz="1800">
                <a:solidFill>
                  <a:srgbClr val="273043"/>
                </a:solidFill>
                <a:latin typeface="Microsoft YaHei"/>
              </a:rPr>
              <a:t>把团队知识收回仓库，避免关键信息散落在 Slack / Docs</a:t>
            </a:r>
          </a:p>
          <a:p>
            <a:pPr algn="l">
              <a:spcAft>
                <a:spcPts val="700"/>
              </a:spcAft>
            </a:pPr>
            <a:r>
              <a:rPr sz="1800">
                <a:solidFill>
                  <a:srgbClr val="273043"/>
                </a:solidFill>
                <a:latin typeface="Microsoft YaHei"/>
              </a:rPr>
              <a:t>做自定义 Linter，并在报错里直接给出修复指引</a:t>
            </a:r>
          </a:p>
          <a:p>
            <a:pPr algn="l">
              <a:spcAft>
                <a:spcPts val="700"/>
              </a:spcAft>
            </a:pPr>
            <a:r>
              <a:rPr sz="1800">
                <a:solidFill>
                  <a:srgbClr val="273043"/>
                </a:solidFill>
                <a:latin typeface="Microsoft YaHei"/>
              </a:rPr>
              <a:t>补齐端到端测试工具，尤其是浏览器自动化验证</a:t>
            </a:r>
          </a:p>
          <a:p>
            <a:pPr algn="l">
              <a:spcAft>
                <a:spcPts val="700"/>
              </a:spcAft>
            </a:pPr>
            <a:r>
              <a:rPr sz="1800">
                <a:solidFill>
                  <a:srgbClr val="273043"/>
                </a:solidFill>
                <a:latin typeface="Microsoft YaHei"/>
              </a:rPr>
              <a:t>实施增量执行策略：一次会话只推进一个功能，并写回进度</a:t>
            </a:r>
          </a:p>
          <a:p>
            <a:pPr algn="l">
              <a:spcAft>
                <a:spcPts val="700"/>
              </a:spcAft>
            </a:pPr>
            <a:r>
              <a:rPr sz="1800">
                <a:solidFill>
                  <a:srgbClr val="273043"/>
                </a:solidFill>
                <a:latin typeface="Microsoft YaHei"/>
              </a:rPr>
              <a:t>把上下文做成 Tier 1 / 2 / 3，拒绝大一统说明书</a:t>
            </a:r>
          </a:p>
          <a:p>
            <a:pPr algn="l">
              <a:spcAft>
                <a:spcPts val="700"/>
              </a:spcAft>
            </a:pPr>
            <a:r>
              <a:rPr sz="1800">
                <a:solidFill>
                  <a:srgbClr val="273043"/>
                </a:solidFill>
                <a:latin typeface="Microsoft YaHei"/>
              </a:rPr>
              <a:t>定期运行“垃圾回收”任务，清理 AI 代码熵和文档漂移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4553712"/>
            <a:ext cx="3246120" cy="8686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28431" y="473659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先做可验证，再做可自治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1908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C7A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13E"/>
                </a:solidFill>
                <a:latin typeface="Microsoft YaHei"/>
              </a:rPr>
              <a:t>仍然存在的分歧与空白区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88720"/>
            <a:ext cx="3520440" cy="19933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188720"/>
            <a:ext cx="91440" cy="1993392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298448"/>
            <a:ext cx="33009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13E"/>
                </a:solidFill>
                <a:latin typeface="Microsoft YaHei"/>
              </a:rPr>
              <a:t>四大分歧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3300984" cy="1426464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Harness 应简化还是精细化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单 Agent 还是多 Agent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人类应该介入到什么程度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Harness 与 Prompt / Context 的边界怎么画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188720"/>
            <a:ext cx="3520440" cy="19933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4256" y="1188720"/>
            <a:ext cx="91440" cy="1993392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298448"/>
            <a:ext cx="33009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13E"/>
                </a:solidFill>
                <a:latin typeface="Microsoft YaHei"/>
              </a:rPr>
              <a:t>三大空白区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4" y="1664208"/>
            <a:ext cx="3300984" cy="1426464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遗留项目如何进行 Harness 改造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功能与行为验证仍缺少系统方案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AI 代码的长期可维护性尚无成熟答案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520440" cy="19933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188720"/>
            <a:ext cx="91440" cy="1993392"/>
          </a:xfrm>
          <a:prstGeom prst="rect">
            <a:avLst/>
          </a:prstGeom>
          <a:solidFill>
            <a:srgbClr val="137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298448"/>
            <a:ext cx="33009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13E"/>
                </a:solidFill>
                <a:latin typeface="Microsoft YaHei"/>
              </a:rPr>
              <a:t>六大共识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664208"/>
            <a:ext cx="3300984" cy="1426464"/>
          </a:xfrm>
          <a:prstGeom prst="rect">
            <a:avLst/>
          </a:prstGeom>
          <a:noFill/>
        </p:spPr>
        <p:txBody>
          <a:bodyPr wrap="square" lIns="25400" r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基础设施比模型更关键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文档要活化，思考与执行要分离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上下文不是越多越好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273043"/>
                </a:solidFill>
                <a:latin typeface="Microsoft YaHei"/>
              </a:rPr>
              <a:t>约束必须自动化执行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033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6213E"/>
                </a:solidFill>
                <a:latin typeface="Microsoft YaHei"/>
              </a:rPr>
              <a:t>结论并不是“先等更强模型”，而是“先把工程底座搭好”。模型越强，Harness 往往越重要。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8348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06C7A"/>
                </a:solidFill>
                <a:latin typeface="Microsoft YaHei"/>
              </a:rPr>
              <a:t>内容来源：本目录下《Harness Engineering.md》整理提炼。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1908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C7A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